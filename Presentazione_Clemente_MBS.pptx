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08" r:id="rId3"/>
    <p:sldId id="311" r:id="rId4"/>
    <p:sldId id="296" r:id="rId5"/>
    <p:sldId id="295" r:id="rId6"/>
    <p:sldId id="303" r:id="rId7"/>
    <p:sldId id="304" r:id="rId8"/>
    <p:sldId id="307" r:id="rId9"/>
    <p:sldId id="305" r:id="rId10"/>
    <p:sldId id="309" r:id="rId11"/>
    <p:sldId id="306" r:id="rId12"/>
    <p:sldId id="280" r:id="rId13"/>
    <p:sldId id="267" r:id="rId14"/>
    <p:sldId id="310" r:id="rId15"/>
    <p:sldId id="312" r:id="rId16"/>
    <p:sldId id="313" r:id="rId17"/>
  </p:sldIdLst>
  <p:sldSz cx="9144000" cy="6858000" type="screen4x3"/>
  <p:notesSz cx="9144000" cy="6858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FBB38"/>
    <a:srgbClr val="1C7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60"/>
  </p:normalViewPr>
  <p:slideViewPr>
    <p:cSldViewPr>
      <p:cViewPr varScale="1">
        <p:scale>
          <a:sx n="123" d="100"/>
          <a:sy n="123" d="100"/>
        </p:scale>
        <p:origin x="1424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4911D2-54B1-40AE-86A9-1F7330A2CD7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A2DC78-0CB6-431E-AECB-A3BB6DFFE898}">
      <dgm:prSet/>
      <dgm:spPr/>
      <dgm:t>
        <a:bodyPr/>
        <a:lstStyle/>
        <a:p>
          <a:r>
            <a:rPr lang="it-IT" b="1" i="1" dirty="0"/>
            <a:t>Introduction: </a:t>
          </a:r>
        </a:p>
        <a:p>
          <a:r>
            <a:rPr lang="en-US" dirty="0"/>
            <a:t>brief description of Atrial Fibrillation</a:t>
          </a:r>
        </a:p>
      </dgm:t>
    </dgm:pt>
    <dgm:pt modelId="{723096F0-E959-499A-A2DD-FE06A2C3B02B}" type="parTrans" cxnId="{8443CF09-F04A-446D-8AD8-97D7C907F296}">
      <dgm:prSet/>
      <dgm:spPr/>
      <dgm:t>
        <a:bodyPr/>
        <a:lstStyle/>
        <a:p>
          <a:endParaRPr lang="en-US"/>
        </a:p>
      </dgm:t>
    </dgm:pt>
    <dgm:pt modelId="{ED55EABD-B198-4C87-8C54-8D111F6ABFBA}" type="sibTrans" cxnId="{8443CF09-F04A-446D-8AD8-97D7C907F296}">
      <dgm:prSet/>
      <dgm:spPr/>
      <dgm:t>
        <a:bodyPr/>
        <a:lstStyle/>
        <a:p>
          <a:endParaRPr lang="en-US"/>
        </a:p>
      </dgm:t>
    </dgm:pt>
    <dgm:pt modelId="{9B078EC3-2A2C-462E-8BF3-6D45AC38C112}">
      <dgm:prSet/>
      <dgm:spPr/>
      <dgm:t>
        <a:bodyPr/>
        <a:lstStyle/>
        <a:p>
          <a:r>
            <a:rPr lang="en-US" b="1" i="1" dirty="0"/>
            <a:t>Models:</a:t>
          </a:r>
          <a:endParaRPr lang="en-US" dirty="0"/>
        </a:p>
      </dgm:t>
    </dgm:pt>
    <dgm:pt modelId="{54B8C75E-224A-4CDD-AFBB-D0767B5F2143}" type="parTrans" cxnId="{03A59497-27AC-4AC0-B9E9-73BF31A5879B}">
      <dgm:prSet/>
      <dgm:spPr/>
      <dgm:t>
        <a:bodyPr/>
        <a:lstStyle/>
        <a:p>
          <a:endParaRPr lang="en-US"/>
        </a:p>
      </dgm:t>
    </dgm:pt>
    <dgm:pt modelId="{DB886A69-BF62-49C4-B278-8164FB1229FB}" type="sibTrans" cxnId="{03A59497-27AC-4AC0-B9E9-73BF31A5879B}">
      <dgm:prSet/>
      <dgm:spPr/>
      <dgm:t>
        <a:bodyPr/>
        <a:lstStyle/>
        <a:p>
          <a:endParaRPr lang="en-US"/>
        </a:p>
      </dgm:t>
    </dgm:pt>
    <dgm:pt modelId="{8F3B656A-2AD6-4C85-86A2-02BFA59ADCD1}">
      <dgm:prSet/>
      <dgm:spPr/>
      <dgm:t>
        <a:bodyPr/>
        <a:lstStyle/>
        <a:p>
          <a:r>
            <a:rPr lang="en-US" b="1" i="1"/>
            <a:t>1D – 0D Model of  Coronary Circulation</a:t>
          </a:r>
          <a:endParaRPr lang="en-US"/>
        </a:p>
      </dgm:t>
    </dgm:pt>
    <dgm:pt modelId="{A27952EB-200A-4039-A20E-EA7C61AE8F28}" type="parTrans" cxnId="{9DDCFC6E-FFE5-45E9-9E6F-B72203BEFB1B}">
      <dgm:prSet/>
      <dgm:spPr/>
      <dgm:t>
        <a:bodyPr/>
        <a:lstStyle/>
        <a:p>
          <a:endParaRPr lang="en-US"/>
        </a:p>
      </dgm:t>
    </dgm:pt>
    <dgm:pt modelId="{0AF5FCB2-19B2-441D-BD23-A7B36AEBC90D}" type="sibTrans" cxnId="{9DDCFC6E-FFE5-45E9-9E6F-B72203BEFB1B}">
      <dgm:prSet/>
      <dgm:spPr/>
      <dgm:t>
        <a:bodyPr/>
        <a:lstStyle/>
        <a:p>
          <a:endParaRPr lang="en-US"/>
        </a:p>
      </dgm:t>
    </dgm:pt>
    <dgm:pt modelId="{1A061CA9-2126-48FE-9265-64FD7F09FB0A}">
      <dgm:prSet/>
      <dgm:spPr/>
      <dgm:t>
        <a:bodyPr/>
        <a:lstStyle/>
        <a:p>
          <a:r>
            <a:rPr lang="en-US" b="0" i="1" dirty="0"/>
            <a:t>Impaired coronary blood flow at higher Heart Rates during AF: </a:t>
          </a:r>
          <a:r>
            <a:rPr lang="en-US" b="1" i="1" dirty="0"/>
            <a:t>Open – Loop Model</a:t>
          </a:r>
          <a:endParaRPr lang="en-US" dirty="0"/>
        </a:p>
      </dgm:t>
    </dgm:pt>
    <dgm:pt modelId="{22C6DF8F-FCE9-4FBF-BE5F-68D7E045D630}" type="parTrans" cxnId="{0CD7BC15-FA86-426F-AB21-7DC311987E65}">
      <dgm:prSet/>
      <dgm:spPr/>
      <dgm:t>
        <a:bodyPr/>
        <a:lstStyle/>
        <a:p>
          <a:endParaRPr lang="en-US"/>
        </a:p>
      </dgm:t>
    </dgm:pt>
    <dgm:pt modelId="{4E3836C5-2B22-4FA5-9C90-1B874F8B2F6F}" type="sibTrans" cxnId="{0CD7BC15-FA86-426F-AB21-7DC311987E65}">
      <dgm:prSet/>
      <dgm:spPr/>
      <dgm:t>
        <a:bodyPr/>
        <a:lstStyle/>
        <a:p>
          <a:endParaRPr lang="en-US"/>
        </a:p>
      </dgm:t>
    </dgm:pt>
    <dgm:pt modelId="{70133B66-B474-4EBE-8FBD-8F1BA9561F3A}">
      <dgm:prSet/>
      <dgm:spPr/>
      <dgm:t>
        <a:bodyPr/>
        <a:lstStyle/>
        <a:p>
          <a:r>
            <a:rPr lang="en-US" b="0" i="1" dirty="0"/>
            <a:t>Analysis of AF effects on coronary perfusion across the different myocardial layers: </a:t>
          </a:r>
          <a:r>
            <a:rPr lang="en-US" b="1" i="1" dirty="0"/>
            <a:t>Close - Loop Model</a:t>
          </a:r>
          <a:endParaRPr lang="en-US" dirty="0"/>
        </a:p>
      </dgm:t>
    </dgm:pt>
    <dgm:pt modelId="{D4578287-BF5D-40F2-B00F-B1EDC1812E23}" type="parTrans" cxnId="{19E67203-5517-405C-AD0F-E592E6DF5A32}">
      <dgm:prSet/>
      <dgm:spPr/>
      <dgm:t>
        <a:bodyPr/>
        <a:lstStyle/>
        <a:p>
          <a:endParaRPr lang="en-US"/>
        </a:p>
      </dgm:t>
    </dgm:pt>
    <dgm:pt modelId="{D62017C7-30E9-4D93-B0DA-6BCD3530CBB9}" type="sibTrans" cxnId="{19E67203-5517-405C-AD0F-E592E6DF5A32}">
      <dgm:prSet/>
      <dgm:spPr/>
      <dgm:t>
        <a:bodyPr/>
        <a:lstStyle/>
        <a:p>
          <a:endParaRPr lang="en-US"/>
        </a:p>
      </dgm:t>
    </dgm:pt>
    <dgm:pt modelId="{57A1A820-A8E0-4667-AF12-93A4CC020473}">
      <dgm:prSet/>
      <dgm:spPr/>
      <dgm:t>
        <a:bodyPr/>
        <a:lstStyle/>
        <a:p>
          <a:r>
            <a:rPr lang="en-US" b="1" i="1" dirty="0"/>
            <a:t>Conclusion and future developments</a:t>
          </a:r>
          <a:endParaRPr lang="en-US" dirty="0"/>
        </a:p>
      </dgm:t>
    </dgm:pt>
    <dgm:pt modelId="{7AD016C1-D247-45C9-9C87-21CA2BC69A6E}" type="parTrans" cxnId="{8DDA29EF-486C-4198-BD59-C2A9E2665A26}">
      <dgm:prSet/>
      <dgm:spPr/>
      <dgm:t>
        <a:bodyPr/>
        <a:lstStyle/>
        <a:p>
          <a:endParaRPr lang="en-US"/>
        </a:p>
      </dgm:t>
    </dgm:pt>
    <dgm:pt modelId="{0F120FBF-7E00-4CBF-B817-5F1018235146}" type="sibTrans" cxnId="{8DDA29EF-486C-4198-BD59-C2A9E2665A26}">
      <dgm:prSet/>
      <dgm:spPr/>
      <dgm:t>
        <a:bodyPr/>
        <a:lstStyle/>
        <a:p>
          <a:endParaRPr lang="en-US"/>
        </a:p>
      </dgm:t>
    </dgm:pt>
    <dgm:pt modelId="{46396330-3DF2-1646-B5F4-8C663B7F7D7B}" type="pres">
      <dgm:prSet presAssocID="{904911D2-54B1-40AE-86A9-1F7330A2CD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462671-718F-8445-A0D5-C106A4924FB6}" type="pres">
      <dgm:prSet presAssocID="{36A2DC78-0CB6-431E-AECB-A3BB6DFFE898}" presName="hierRoot1" presStyleCnt="0"/>
      <dgm:spPr/>
    </dgm:pt>
    <dgm:pt modelId="{97F5E2B4-DC2C-2E48-987B-C52B1CEDE55A}" type="pres">
      <dgm:prSet presAssocID="{36A2DC78-0CB6-431E-AECB-A3BB6DFFE898}" presName="composite" presStyleCnt="0"/>
      <dgm:spPr/>
    </dgm:pt>
    <dgm:pt modelId="{17B61533-EB45-C040-8CD5-B5B388DAA26D}" type="pres">
      <dgm:prSet presAssocID="{36A2DC78-0CB6-431E-AECB-A3BB6DFFE898}" presName="background" presStyleLbl="node0" presStyleIdx="0" presStyleCnt="3"/>
      <dgm:spPr/>
    </dgm:pt>
    <dgm:pt modelId="{DE861FAE-D6B1-2842-B15B-5FCC7782D358}" type="pres">
      <dgm:prSet presAssocID="{36A2DC78-0CB6-431E-AECB-A3BB6DFFE898}" presName="text" presStyleLbl="fgAcc0" presStyleIdx="0" presStyleCnt="3">
        <dgm:presLayoutVars>
          <dgm:chPref val="3"/>
        </dgm:presLayoutVars>
      </dgm:prSet>
      <dgm:spPr/>
    </dgm:pt>
    <dgm:pt modelId="{D3E1A1B9-2B27-BA4F-8918-1F0C726F31C1}" type="pres">
      <dgm:prSet presAssocID="{36A2DC78-0CB6-431E-AECB-A3BB6DFFE898}" presName="hierChild2" presStyleCnt="0"/>
      <dgm:spPr/>
    </dgm:pt>
    <dgm:pt modelId="{21F846CF-F123-3C48-83FE-D1E27234842A}" type="pres">
      <dgm:prSet presAssocID="{9B078EC3-2A2C-462E-8BF3-6D45AC38C112}" presName="hierRoot1" presStyleCnt="0"/>
      <dgm:spPr/>
    </dgm:pt>
    <dgm:pt modelId="{FA204A82-DDD4-3A40-8795-479B127CCE8C}" type="pres">
      <dgm:prSet presAssocID="{9B078EC3-2A2C-462E-8BF3-6D45AC38C112}" presName="composite" presStyleCnt="0"/>
      <dgm:spPr/>
    </dgm:pt>
    <dgm:pt modelId="{28CBAC0C-A136-344C-BDD7-55576C317B62}" type="pres">
      <dgm:prSet presAssocID="{9B078EC3-2A2C-462E-8BF3-6D45AC38C112}" presName="background" presStyleLbl="node0" presStyleIdx="1" presStyleCnt="3"/>
      <dgm:spPr/>
    </dgm:pt>
    <dgm:pt modelId="{C9A5DF22-DBF6-B74D-8807-7F0C2182B7CE}" type="pres">
      <dgm:prSet presAssocID="{9B078EC3-2A2C-462E-8BF3-6D45AC38C112}" presName="text" presStyleLbl="fgAcc0" presStyleIdx="1" presStyleCnt="3">
        <dgm:presLayoutVars>
          <dgm:chPref val="3"/>
        </dgm:presLayoutVars>
      </dgm:prSet>
      <dgm:spPr/>
    </dgm:pt>
    <dgm:pt modelId="{B6453C07-8A53-E04E-9444-14202796F49E}" type="pres">
      <dgm:prSet presAssocID="{9B078EC3-2A2C-462E-8BF3-6D45AC38C112}" presName="hierChild2" presStyleCnt="0"/>
      <dgm:spPr/>
    </dgm:pt>
    <dgm:pt modelId="{65EB15DA-6948-2043-8A8A-165C8710610C}" type="pres">
      <dgm:prSet presAssocID="{A27952EB-200A-4039-A20E-EA7C61AE8F28}" presName="Name10" presStyleLbl="parChTrans1D2" presStyleIdx="0" presStyleCnt="3"/>
      <dgm:spPr/>
    </dgm:pt>
    <dgm:pt modelId="{1E8AAA2E-9DC8-2443-B454-71292AD67641}" type="pres">
      <dgm:prSet presAssocID="{8F3B656A-2AD6-4C85-86A2-02BFA59ADCD1}" presName="hierRoot2" presStyleCnt="0"/>
      <dgm:spPr/>
    </dgm:pt>
    <dgm:pt modelId="{60359BFD-3473-4647-9272-654C7FBCEEF8}" type="pres">
      <dgm:prSet presAssocID="{8F3B656A-2AD6-4C85-86A2-02BFA59ADCD1}" presName="composite2" presStyleCnt="0"/>
      <dgm:spPr/>
    </dgm:pt>
    <dgm:pt modelId="{386BC990-52A6-1C4B-B536-F540881056BA}" type="pres">
      <dgm:prSet presAssocID="{8F3B656A-2AD6-4C85-86A2-02BFA59ADCD1}" presName="background2" presStyleLbl="node2" presStyleIdx="0" presStyleCnt="3"/>
      <dgm:spPr/>
    </dgm:pt>
    <dgm:pt modelId="{7CF0993D-C8B8-704A-93E3-0C5CBE521F7B}" type="pres">
      <dgm:prSet presAssocID="{8F3B656A-2AD6-4C85-86A2-02BFA59ADCD1}" presName="text2" presStyleLbl="fgAcc2" presStyleIdx="0" presStyleCnt="3">
        <dgm:presLayoutVars>
          <dgm:chPref val="3"/>
        </dgm:presLayoutVars>
      </dgm:prSet>
      <dgm:spPr/>
    </dgm:pt>
    <dgm:pt modelId="{13093A36-023B-A44A-9946-2311CDF7C4B2}" type="pres">
      <dgm:prSet presAssocID="{8F3B656A-2AD6-4C85-86A2-02BFA59ADCD1}" presName="hierChild3" presStyleCnt="0"/>
      <dgm:spPr/>
    </dgm:pt>
    <dgm:pt modelId="{47C611B3-B24B-F941-BC5A-16A96C022ADD}" type="pres">
      <dgm:prSet presAssocID="{22C6DF8F-FCE9-4FBF-BE5F-68D7E045D630}" presName="Name10" presStyleLbl="parChTrans1D2" presStyleIdx="1" presStyleCnt="3"/>
      <dgm:spPr/>
    </dgm:pt>
    <dgm:pt modelId="{AB6D9888-58E5-3340-911C-EF188F50B4FE}" type="pres">
      <dgm:prSet presAssocID="{1A061CA9-2126-48FE-9265-64FD7F09FB0A}" presName="hierRoot2" presStyleCnt="0"/>
      <dgm:spPr/>
    </dgm:pt>
    <dgm:pt modelId="{30DB3B56-E822-204A-8F9A-E92E304C40EF}" type="pres">
      <dgm:prSet presAssocID="{1A061CA9-2126-48FE-9265-64FD7F09FB0A}" presName="composite2" presStyleCnt="0"/>
      <dgm:spPr/>
    </dgm:pt>
    <dgm:pt modelId="{C728BECC-6B74-5243-918C-94755BD282A8}" type="pres">
      <dgm:prSet presAssocID="{1A061CA9-2126-48FE-9265-64FD7F09FB0A}" presName="background2" presStyleLbl="node2" presStyleIdx="1" presStyleCnt="3"/>
      <dgm:spPr/>
    </dgm:pt>
    <dgm:pt modelId="{B1203948-3ADA-DE47-B0B6-FD5424CC9B0C}" type="pres">
      <dgm:prSet presAssocID="{1A061CA9-2126-48FE-9265-64FD7F09FB0A}" presName="text2" presStyleLbl="fgAcc2" presStyleIdx="1" presStyleCnt="3">
        <dgm:presLayoutVars>
          <dgm:chPref val="3"/>
        </dgm:presLayoutVars>
      </dgm:prSet>
      <dgm:spPr/>
    </dgm:pt>
    <dgm:pt modelId="{3C0E468D-4E40-EF4A-8178-AFDBD67908B5}" type="pres">
      <dgm:prSet presAssocID="{1A061CA9-2126-48FE-9265-64FD7F09FB0A}" presName="hierChild3" presStyleCnt="0"/>
      <dgm:spPr/>
    </dgm:pt>
    <dgm:pt modelId="{463F4B77-28AC-534C-8D75-0F4018611C67}" type="pres">
      <dgm:prSet presAssocID="{D4578287-BF5D-40F2-B00F-B1EDC1812E23}" presName="Name10" presStyleLbl="parChTrans1D2" presStyleIdx="2" presStyleCnt="3"/>
      <dgm:spPr/>
    </dgm:pt>
    <dgm:pt modelId="{CDF9B253-4209-4E40-9CE3-309DE600D5F7}" type="pres">
      <dgm:prSet presAssocID="{70133B66-B474-4EBE-8FBD-8F1BA9561F3A}" presName="hierRoot2" presStyleCnt="0"/>
      <dgm:spPr/>
    </dgm:pt>
    <dgm:pt modelId="{C9E2B6E4-90E9-1640-A480-A47C33D2AA82}" type="pres">
      <dgm:prSet presAssocID="{70133B66-B474-4EBE-8FBD-8F1BA9561F3A}" presName="composite2" presStyleCnt="0"/>
      <dgm:spPr/>
    </dgm:pt>
    <dgm:pt modelId="{CD5A49ED-2D59-1040-A79C-0E3EFC60E825}" type="pres">
      <dgm:prSet presAssocID="{70133B66-B474-4EBE-8FBD-8F1BA9561F3A}" presName="background2" presStyleLbl="node2" presStyleIdx="2" presStyleCnt="3"/>
      <dgm:spPr/>
    </dgm:pt>
    <dgm:pt modelId="{9629AD99-4BBD-A340-B092-37CD9910F863}" type="pres">
      <dgm:prSet presAssocID="{70133B66-B474-4EBE-8FBD-8F1BA9561F3A}" presName="text2" presStyleLbl="fgAcc2" presStyleIdx="2" presStyleCnt="3">
        <dgm:presLayoutVars>
          <dgm:chPref val="3"/>
        </dgm:presLayoutVars>
      </dgm:prSet>
      <dgm:spPr/>
    </dgm:pt>
    <dgm:pt modelId="{39D6B8A2-31FE-2F4C-ABC2-C85B824FBB17}" type="pres">
      <dgm:prSet presAssocID="{70133B66-B474-4EBE-8FBD-8F1BA9561F3A}" presName="hierChild3" presStyleCnt="0"/>
      <dgm:spPr/>
    </dgm:pt>
    <dgm:pt modelId="{B2009C74-78BE-D64E-BAFF-A2DB3B748675}" type="pres">
      <dgm:prSet presAssocID="{57A1A820-A8E0-4667-AF12-93A4CC020473}" presName="hierRoot1" presStyleCnt="0"/>
      <dgm:spPr/>
    </dgm:pt>
    <dgm:pt modelId="{B8DCE704-4038-F841-8EF5-D4CC2A5A822F}" type="pres">
      <dgm:prSet presAssocID="{57A1A820-A8E0-4667-AF12-93A4CC020473}" presName="composite" presStyleCnt="0"/>
      <dgm:spPr/>
    </dgm:pt>
    <dgm:pt modelId="{1003B593-3964-884F-92FE-10280A666FA6}" type="pres">
      <dgm:prSet presAssocID="{57A1A820-A8E0-4667-AF12-93A4CC020473}" presName="background" presStyleLbl="node0" presStyleIdx="2" presStyleCnt="3"/>
      <dgm:spPr/>
    </dgm:pt>
    <dgm:pt modelId="{5147EC14-9128-3A48-B99B-F9BF8A6B628C}" type="pres">
      <dgm:prSet presAssocID="{57A1A820-A8E0-4667-AF12-93A4CC020473}" presName="text" presStyleLbl="fgAcc0" presStyleIdx="2" presStyleCnt="3">
        <dgm:presLayoutVars>
          <dgm:chPref val="3"/>
        </dgm:presLayoutVars>
      </dgm:prSet>
      <dgm:spPr/>
    </dgm:pt>
    <dgm:pt modelId="{DE85C688-CD72-F943-9880-9A65EAA41C91}" type="pres">
      <dgm:prSet presAssocID="{57A1A820-A8E0-4667-AF12-93A4CC020473}" presName="hierChild2" presStyleCnt="0"/>
      <dgm:spPr/>
    </dgm:pt>
  </dgm:ptLst>
  <dgm:cxnLst>
    <dgm:cxn modelId="{19E67203-5517-405C-AD0F-E592E6DF5A32}" srcId="{9B078EC3-2A2C-462E-8BF3-6D45AC38C112}" destId="{70133B66-B474-4EBE-8FBD-8F1BA9561F3A}" srcOrd="2" destOrd="0" parTransId="{D4578287-BF5D-40F2-B00F-B1EDC1812E23}" sibTransId="{D62017C7-30E9-4D93-B0DA-6BCD3530CBB9}"/>
    <dgm:cxn modelId="{8443CF09-F04A-446D-8AD8-97D7C907F296}" srcId="{904911D2-54B1-40AE-86A9-1F7330A2CD70}" destId="{36A2DC78-0CB6-431E-AECB-A3BB6DFFE898}" srcOrd="0" destOrd="0" parTransId="{723096F0-E959-499A-A2DD-FE06A2C3B02B}" sibTransId="{ED55EABD-B198-4C87-8C54-8D111F6ABFBA}"/>
    <dgm:cxn modelId="{E635D909-072C-0A4B-B90A-E6A9607A0BF4}" type="presOf" srcId="{1A061CA9-2126-48FE-9265-64FD7F09FB0A}" destId="{B1203948-3ADA-DE47-B0B6-FD5424CC9B0C}" srcOrd="0" destOrd="0" presId="urn:microsoft.com/office/officeart/2005/8/layout/hierarchy1"/>
    <dgm:cxn modelId="{9EBECD0D-DD8A-6446-B46B-3177CED77DA0}" type="presOf" srcId="{A27952EB-200A-4039-A20E-EA7C61AE8F28}" destId="{65EB15DA-6948-2043-8A8A-165C8710610C}" srcOrd="0" destOrd="0" presId="urn:microsoft.com/office/officeart/2005/8/layout/hierarchy1"/>
    <dgm:cxn modelId="{0CD7BC15-FA86-426F-AB21-7DC311987E65}" srcId="{9B078EC3-2A2C-462E-8BF3-6D45AC38C112}" destId="{1A061CA9-2126-48FE-9265-64FD7F09FB0A}" srcOrd="1" destOrd="0" parTransId="{22C6DF8F-FCE9-4FBF-BE5F-68D7E045D630}" sibTransId="{4E3836C5-2B22-4FA5-9C90-1B874F8B2F6F}"/>
    <dgm:cxn modelId="{5E0EAA35-8414-6840-9F5B-2B3E62CBDA97}" type="presOf" srcId="{9B078EC3-2A2C-462E-8BF3-6D45AC38C112}" destId="{C9A5DF22-DBF6-B74D-8807-7F0C2182B7CE}" srcOrd="0" destOrd="0" presId="urn:microsoft.com/office/officeart/2005/8/layout/hierarchy1"/>
    <dgm:cxn modelId="{A9605947-F45C-5C4A-BE09-385489465CA8}" type="presOf" srcId="{36A2DC78-0CB6-431E-AECB-A3BB6DFFE898}" destId="{DE861FAE-D6B1-2842-B15B-5FCC7782D358}" srcOrd="0" destOrd="0" presId="urn:microsoft.com/office/officeart/2005/8/layout/hierarchy1"/>
    <dgm:cxn modelId="{9DDCFC6E-FFE5-45E9-9E6F-B72203BEFB1B}" srcId="{9B078EC3-2A2C-462E-8BF3-6D45AC38C112}" destId="{8F3B656A-2AD6-4C85-86A2-02BFA59ADCD1}" srcOrd="0" destOrd="0" parTransId="{A27952EB-200A-4039-A20E-EA7C61AE8F28}" sibTransId="{0AF5FCB2-19B2-441D-BD23-A7B36AEBC90D}"/>
    <dgm:cxn modelId="{1925C78E-2694-B245-8D82-D0167983AA8E}" type="presOf" srcId="{70133B66-B474-4EBE-8FBD-8F1BA9561F3A}" destId="{9629AD99-4BBD-A340-B092-37CD9910F863}" srcOrd="0" destOrd="0" presId="urn:microsoft.com/office/officeart/2005/8/layout/hierarchy1"/>
    <dgm:cxn modelId="{03A59497-27AC-4AC0-B9E9-73BF31A5879B}" srcId="{904911D2-54B1-40AE-86A9-1F7330A2CD70}" destId="{9B078EC3-2A2C-462E-8BF3-6D45AC38C112}" srcOrd="1" destOrd="0" parTransId="{54B8C75E-224A-4CDD-AFBB-D0767B5F2143}" sibTransId="{DB886A69-BF62-49C4-B278-8164FB1229FB}"/>
    <dgm:cxn modelId="{820A06AC-DACD-A144-B6C1-37D9A3DD32B1}" type="presOf" srcId="{57A1A820-A8E0-4667-AF12-93A4CC020473}" destId="{5147EC14-9128-3A48-B99B-F9BF8A6B628C}" srcOrd="0" destOrd="0" presId="urn:microsoft.com/office/officeart/2005/8/layout/hierarchy1"/>
    <dgm:cxn modelId="{D35FD8AD-C51F-3840-B50C-CDFD2E4A623E}" type="presOf" srcId="{D4578287-BF5D-40F2-B00F-B1EDC1812E23}" destId="{463F4B77-28AC-534C-8D75-0F4018611C67}" srcOrd="0" destOrd="0" presId="urn:microsoft.com/office/officeart/2005/8/layout/hierarchy1"/>
    <dgm:cxn modelId="{CBDA79D6-9BD7-5D41-8559-4B1BEFBAAAEE}" type="presOf" srcId="{22C6DF8F-FCE9-4FBF-BE5F-68D7E045D630}" destId="{47C611B3-B24B-F941-BC5A-16A96C022ADD}" srcOrd="0" destOrd="0" presId="urn:microsoft.com/office/officeart/2005/8/layout/hierarchy1"/>
    <dgm:cxn modelId="{C6126ADB-3F44-C542-92AB-DF300E402C0D}" type="presOf" srcId="{8F3B656A-2AD6-4C85-86A2-02BFA59ADCD1}" destId="{7CF0993D-C8B8-704A-93E3-0C5CBE521F7B}" srcOrd="0" destOrd="0" presId="urn:microsoft.com/office/officeart/2005/8/layout/hierarchy1"/>
    <dgm:cxn modelId="{0FC780E8-8BA3-3E42-B1DE-AB6CF30B588B}" type="presOf" srcId="{904911D2-54B1-40AE-86A9-1F7330A2CD70}" destId="{46396330-3DF2-1646-B5F4-8C663B7F7D7B}" srcOrd="0" destOrd="0" presId="urn:microsoft.com/office/officeart/2005/8/layout/hierarchy1"/>
    <dgm:cxn modelId="{8DDA29EF-486C-4198-BD59-C2A9E2665A26}" srcId="{904911D2-54B1-40AE-86A9-1F7330A2CD70}" destId="{57A1A820-A8E0-4667-AF12-93A4CC020473}" srcOrd="2" destOrd="0" parTransId="{7AD016C1-D247-45C9-9C87-21CA2BC69A6E}" sibTransId="{0F120FBF-7E00-4CBF-B817-5F1018235146}"/>
    <dgm:cxn modelId="{28DBF52B-8198-2D4E-9577-F083A719E058}" type="presParOf" srcId="{46396330-3DF2-1646-B5F4-8C663B7F7D7B}" destId="{E7462671-718F-8445-A0D5-C106A4924FB6}" srcOrd="0" destOrd="0" presId="urn:microsoft.com/office/officeart/2005/8/layout/hierarchy1"/>
    <dgm:cxn modelId="{D1E64791-57AE-9B41-B046-D4BC60BD333C}" type="presParOf" srcId="{E7462671-718F-8445-A0D5-C106A4924FB6}" destId="{97F5E2B4-DC2C-2E48-987B-C52B1CEDE55A}" srcOrd="0" destOrd="0" presId="urn:microsoft.com/office/officeart/2005/8/layout/hierarchy1"/>
    <dgm:cxn modelId="{11C131EF-D470-CF4E-B35F-D628744F6260}" type="presParOf" srcId="{97F5E2B4-DC2C-2E48-987B-C52B1CEDE55A}" destId="{17B61533-EB45-C040-8CD5-B5B388DAA26D}" srcOrd="0" destOrd="0" presId="urn:microsoft.com/office/officeart/2005/8/layout/hierarchy1"/>
    <dgm:cxn modelId="{27E06F17-4907-B243-88DB-AB4E20AE552E}" type="presParOf" srcId="{97F5E2B4-DC2C-2E48-987B-C52B1CEDE55A}" destId="{DE861FAE-D6B1-2842-B15B-5FCC7782D358}" srcOrd="1" destOrd="0" presId="urn:microsoft.com/office/officeart/2005/8/layout/hierarchy1"/>
    <dgm:cxn modelId="{4FF12A83-6702-8D49-AD5D-353164F46082}" type="presParOf" srcId="{E7462671-718F-8445-A0D5-C106A4924FB6}" destId="{D3E1A1B9-2B27-BA4F-8918-1F0C726F31C1}" srcOrd="1" destOrd="0" presId="urn:microsoft.com/office/officeart/2005/8/layout/hierarchy1"/>
    <dgm:cxn modelId="{9C2FA65D-9B4A-C440-AB52-8BEC61D4A65A}" type="presParOf" srcId="{46396330-3DF2-1646-B5F4-8C663B7F7D7B}" destId="{21F846CF-F123-3C48-83FE-D1E27234842A}" srcOrd="1" destOrd="0" presId="urn:microsoft.com/office/officeart/2005/8/layout/hierarchy1"/>
    <dgm:cxn modelId="{DEDBAD23-28AE-DB42-90E7-E7F90FB14EB8}" type="presParOf" srcId="{21F846CF-F123-3C48-83FE-D1E27234842A}" destId="{FA204A82-DDD4-3A40-8795-479B127CCE8C}" srcOrd="0" destOrd="0" presId="urn:microsoft.com/office/officeart/2005/8/layout/hierarchy1"/>
    <dgm:cxn modelId="{6073F960-06D3-A442-B89D-D7837872D6D0}" type="presParOf" srcId="{FA204A82-DDD4-3A40-8795-479B127CCE8C}" destId="{28CBAC0C-A136-344C-BDD7-55576C317B62}" srcOrd="0" destOrd="0" presId="urn:microsoft.com/office/officeart/2005/8/layout/hierarchy1"/>
    <dgm:cxn modelId="{E00D0F2E-7F05-964E-B23E-6FAE5CA26D22}" type="presParOf" srcId="{FA204A82-DDD4-3A40-8795-479B127CCE8C}" destId="{C9A5DF22-DBF6-B74D-8807-7F0C2182B7CE}" srcOrd="1" destOrd="0" presId="urn:microsoft.com/office/officeart/2005/8/layout/hierarchy1"/>
    <dgm:cxn modelId="{441E3FCE-163A-E147-AEFC-ACE7031A2638}" type="presParOf" srcId="{21F846CF-F123-3C48-83FE-D1E27234842A}" destId="{B6453C07-8A53-E04E-9444-14202796F49E}" srcOrd="1" destOrd="0" presId="urn:microsoft.com/office/officeart/2005/8/layout/hierarchy1"/>
    <dgm:cxn modelId="{761591B8-1745-9A4B-84AB-48F8C9833C1B}" type="presParOf" srcId="{B6453C07-8A53-E04E-9444-14202796F49E}" destId="{65EB15DA-6948-2043-8A8A-165C8710610C}" srcOrd="0" destOrd="0" presId="urn:microsoft.com/office/officeart/2005/8/layout/hierarchy1"/>
    <dgm:cxn modelId="{7882016D-95EF-AA40-A125-1873DA297C3F}" type="presParOf" srcId="{B6453C07-8A53-E04E-9444-14202796F49E}" destId="{1E8AAA2E-9DC8-2443-B454-71292AD67641}" srcOrd="1" destOrd="0" presId="urn:microsoft.com/office/officeart/2005/8/layout/hierarchy1"/>
    <dgm:cxn modelId="{BAEDD0BC-71AC-AE4F-AD60-750D628FDC69}" type="presParOf" srcId="{1E8AAA2E-9DC8-2443-B454-71292AD67641}" destId="{60359BFD-3473-4647-9272-654C7FBCEEF8}" srcOrd="0" destOrd="0" presId="urn:microsoft.com/office/officeart/2005/8/layout/hierarchy1"/>
    <dgm:cxn modelId="{CE884F51-1A51-F14C-A00C-05E8868184EC}" type="presParOf" srcId="{60359BFD-3473-4647-9272-654C7FBCEEF8}" destId="{386BC990-52A6-1C4B-B536-F540881056BA}" srcOrd="0" destOrd="0" presId="urn:microsoft.com/office/officeart/2005/8/layout/hierarchy1"/>
    <dgm:cxn modelId="{31CFE0BD-EE9B-654B-9294-08A7BC3E97AB}" type="presParOf" srcId="{60359BFD-3473-4647-9272-654C7FBCEEF8}" destId="{7CF0993D-C8B8-704A-93E3-0C5CBE521F7B}" srcOrd="1" destOrd="0" presId="urn:microsoft.com/office/officeart/2005/8/layout/hierarchy1"/>
    <dgm:cxn modelId="{AF048272-B6DC-474C-9DEF-5175C0BC9C95}" type="presParOf" srcId="{1E8AAA2E-9DC8-2443-B454-71292AD67641}" destId="{13093A36-023B-A44A-9946-2311CDF7C4B2}" srcOrd="1" destOrd="0" presId="urn:microsoft.com/office/officeart/2005/8/layout/hierarchy1"/>
    <dgm:cxn modelId="{8501BE7D-A02F-854A-84F3-208B01CABB54}" type="presParOf" srcId="{B6453C07-8A53-E04E-9444-14202796F49E}" destId="{47C611B3-B24B-F941-BC5A-16A96C022ADD}" srcOrd="2" destOrd="0" presId="urn:microsoft.com/office/officeart/2005/8/layout/hierarchy1"/>
    <dgm:cxn modelId="{8283E1FB-28C5-F545-9898-785E21987476}" type="presParOf" srcId="{B6453C07-8A53-E04E-9444-14202796F49E}" destId="{AB6D9888-58E5-3340-911C-EF188F50B4FE}" srcOrd="3" destOrd="0" presId="urn:microsoft.com/office/officeart/2005/8/layout/hierarchy1"/>
    <dgm:cxn modelId="{593D21EF-70D5-9043-89B8-40A5D0BAB80C}" type="presParOf" srcId="{AB6D9888-58E5-3340-911C-EF188F50B4FE}" destId="{30DB3B56-E822-204A-8F9A-E92E304C40EF}" srcOrd="0" destOrd="0" presId="urn:microsoft.com/office/officeart/2005/8/layout/hierarchy1"/>
    <dgm:cxn modelId="{B35C4CB2-957C-F84D-A603-B66852B4745F}" type="presParOf" srcId="{30DB3B56-E822-204A-8F9A-E92E304C40EF}" destId="{C728BECC-6B74-5243-918C-94755BD282A8}" srcOrd="0" destOrd="0" presId="urn:microsoft.com/office/officeart/2005/8/layout/hierarchy1"/>
    <dgm:cxn modelId="{22E694C4-02BD-4446-93C1-9FEC91883464}" type="presParOf" srcId="{30DB3B56-E822-204A-8F9A-E92E304C40EF}" destId="{B1203948-3ADA-DE47-B0B6-FD5424CC9B0C}" srcOrd="1" destOrd="0" presId="urn:microsoft.com/office/officeart/2005/8/layout/hierarchy1"/>
    <dgm:cxn modelId="{851D6F4D-9619-AD4E-B789-8AA7C293C930}" type="presParOf" srcId="{AB6D9888-58E5-3340-911C-EF188F50B4FE}" destId="{3C0E468D-4E40-EF4A-8178-AFDBD67908B5}" srcOrd="1" destOrd="0" presId="urn:microsoft.com/office/officeart/2005/8/layout/hierarchy1"/>
    <dgm:cxn modelId="{33C9BC16-51EF-A143-9B42-36A3F74456C4}" type="presParOf" srcId="{B6453C07-8A53-E04E-9444-14202796F49E}" destId="{463F4B77-28AC-534C-8D75-0F4018611C67}" srcOrd="4" destOrd="0" presId="urn:microsoft.com/office/officeart/2005/8/layout/hierarchy1"/>
    <dgm:cxn modelId="{97B2CBCA-BC98-3748-AE4B-E6FBE051457A}" type="presParOf" srcId="{B6453C07-8A53-E04E-9444-14202796F49E}" destId="{CDF9B253-4209-4E40-9CE3-309DE600D5F7}" srcOrd="5" destOrd="0" presId="urn:microsoft.com/office/officeart/2005/8/layout/hierarchy1"/>
    <dgm:cxn modelId="{F25EFB24-B38F-534C-B05D-2DCFB09E97CC}" type="presParOf" srcId="{CDF9B253-4209-4E40-9CE3-309DE600D5F7}" destId="{C9E2B6E4-90E9-1640-A480-A47C33D2AA82}" srcOrd="0" destOrd="0" presId="urn:microsoft.com/office/officeart/2005/8/layout/hierarchy1"/>
    <dgm:cxn modelId="{01F08EFC-5AED-7E48-8EAC-69D379008B08}" type="presParOf" srcId="{C9E2B6E4-90E9-1640-A480-A47C33D2AA82}" destId="{CD5A49ED-2D59-1040-A79C-0E3EFC60E825}" srcOrd="0" destOrd="0" presId="urn:microsoft.com/office/officeart/2005/8/layout/hierarchy1"/>
    <dgm:cxn modelId="{D0068652-B748-C847-B13D-F0FE76BC49F1}" type="presParOf" srcId="{C9E2B6E4-90E9-1640-A480-A47C33D2AA82}" destId="{9629AD99-4BBD-A340-B092-37CD9910F863}" srcOrd="1" destOrd="0" presId="urn:microsoft.com/office/officeart/2005/8/layout/hierarchy1"/>
    <dgm:cxn modelId="{3A661760-30D1-9540-A339-B0A359C94D2E}" type="presParOf" srcId="{CDF9B253-4209-4E40-9CE3-309DE600D5F7}" destId="{39D6B8A2-31FE-2F4C-ABC2-C85B824FBB17}" srcOrd="1" destOrd="0" presId="urn:microsoft.com/office/officeart/2005/8/layout/hierarchy1"/>
    <dgm:cxn modelId="{A6105F2F-AE00-0345-8B10-69E9F95A498C}" type="presParOf" srcId="{46396330-3DF2-1646-B5F4-8C663B7F7D7B}" destId="{B2009C74-78BE-D64E-BAFF-A2DB3B748675}" srcOrd="2" destOrd="0" presId="urn:microsoft.com/office/officeart/2005/8/layout/hierarchy1"/>
    <dgm:cxn modelId="{4237BA03-39C0-A94B-ABE4-B9A9F2E41F5C}" type="presParOf" srcId="{B2009C74-78BE-D64E-BAFF-A2DB3B748675}" destId="{B8DCE704-4038-F841-8EF5-D4CC2A5A822F}" srcOrd="0" destOrd="0" presId="urn:microsoft.com/office/officeart/2005/8/layout/hierarchy1"/>
    <dgm:cxn modelId="{86C8D6D0-F76D-C44A-8930-B713F8FE49E1}" type="presParOf" srcId="{B8DCE704-4038-F841-8EF5-D4CC2A5A822F}" destId="{1003B593-3964-884F-92FE-10280A666FA6}" srcOrd="0" destOrd="0" presId="urn:microsoft.com/office/officeart/2005/8/layout/hierarchy1"/>
    <dgm:cxn modelId="{7FC65297-6FEB-144B-BF6E-2B414453B3EA}" type="presParOf" srcId="{B8DCE704-4038-F841-8EF5-D4CC2A5A822F}" destId="{5147EC14-9128-3A48-B99B-F9BF8A6B628C}" srcOrd="1" destOrd="0" presId="urn:microsoft.com/office/officeart/2005/8/layout/hierarchy1"/>
    <dgm:cxn modelId="{927FF039-3E68-794A-8A93-D99B663B9FDC}" type="presParOf" srcId="{B2009C74-78BE-D64E-BAFF-A2DB3B748675}" destId="{DE85C688-CD72-F943-9880-9A65EAA41C9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B7DB49-55C3-4149-BFEB-C01EEBBDB5B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942135-9877-4634-BB69-29F25C1CD3D7}">
      <dgm:prSet custT="1"/>
      <dgm:spPr/>
      <dgm:t>
        <a:bodyPr/>
        <a:lstStyle/>
        <a:p>
          <a:pPr algn="ctr"/>
          <a:r>
            <a:rPr lang="it-IT" sz="1800" dirty="0" err="1"/>
            <a:t>Most</a:t>
          </a:r>
          <a:r>
            <a:rPr lang="it-IT" sz="1800" dirty="0"/>
            <a:t> common </a:t>
          </a:r>
          <a:r>
            <a:rPr lang="it-IT" sz="1800" dirty="0" err="1"/>
            <a:t>arrhythmia</a:t>
          </a:r>
          <a:endParaRPr lang="en-US" sz="1800" dirty="0"/>
        </a:p>
      </dgm:t>
    </dgm:pt>
    <dgm:pt modelId="{DB9986DB-3DC8-4367-AE91-A896CFBDC4D5}" type="parTrans" cxnId="{620594DD-3C8C-48F4-89D7-C63874D66AEC}">
      <dgm:prSet/>
      <dgm:spPr/>
      <dgm:t>
        <a:bodyPr/>
        <a:lstStyle/>
        <a:p>
          <a:endParaRPr lang="en-US"/>
        </a:p>
      </dgm:t>
    </dgm:pt>
    <dgm:pt modelId="{858C14F7-38F4-4841-BDDB-EA03A1B7B812}" type="sibTrans" cxnId="{620594DD-3C8C-48F4-89D7-C63874D66AEC}">
      <dgm:prSet/>
      <dgm:spPr/>
      <dgm:t>
        <a:bodyPr/>
        <a:lstStyle/>
        <a:p>
          <a:endParaRPr lang="en-US"/>
        </a:p>
      </dgm:t>
    </dgm:pt>
    <dgm:pt modelId="{D841F530-121F-4321-8869-AB4BB8B7DE20}">
      <dgm:prSet custT="1"/>
      <dgm:spPr/>
      <dgm:t>
        <a:bodyPr/>
        <a:lstStyle/>
        <a:p>
          <a:pPr algn="ctr"/>
          <a:r>
            <a:rPr lang="it-IT" sz="1600" b="0" i="0" dirty="0" err="1"/>
            <a:t>Its</a:t>
          </a:r>
          <a:r>
            <a:rPr lang="it-IT" sz="1600" b="0" i="0" dirty="0"/>
            <a:t> </a:t>
          </a:r>
          <a:r>
            <a:rPr lang="it-IT" sz="1600" b="0" i="0" dirty="0" err="1"/>
            <a:t>prevalence</a:t>
          </a:r>
          <a:r>
            <a:rPr lang="it-IT" sz="1600" b="0" i="0" dirty="0"/>
            <a:t> has been </a:t>
          </a:r>
          <a:r>
            <a:rPr lang="it-IT" sz="1600" b="0" i="0" dirty="0" err="1"/>
            <a:t>steadily</a:t>
          </a:r>
          <a:r>
            <a:rPr lang="it-IT" sz="1600" b="0" i="0" dirty="0"/>
            <a:t> </a:t>
          </a:r>
          <a:r>
            <a:rPr lang="it-IT" sz="1600" b="0" i="0" dirty="0" err="1"/>
            <a:t>increasing</a:t>
          </a:r>
          <a:r>
            <a:rPr lang="it-IT" sz="1600" b="0" i="0" dirty="0"/>
            <a:t> over the </a:t>
          </a:r>
          <a:r>
            <a:rPr lang="it-IT" sz="1600" b="0" i="0" dirty="0" err="1"/>
            <a:t>past</a:t>
          </a:r>
          <a:r>
            <a:rPr lang="it-IT" sz="1600" b="0" i="0" dirty="0"/>
            <a:t> </a:t>
          </a:r>
          <a:r>
            <a:rPr lang="it-IT" sz="1600" b="0" i="0" dirty="0" err="1"/>
            <a:t>decades</a:t>
          </a:r>
          <a:endParaRPr lang="en-US" sz="1600" dirty="0"/>
        </a:p>
      </dgm:t>
    </dgm:pt>
    <dgm:pt modelId="{15735793-2E80-4138-B055-81FF3C726E20}" type="parTrans" cxnId="{9C10997E-B53A-47D6-9648-DD6630CF629E}">
      <dgm:prSet/>
      <dgm:spPr/>
      <dgm:t>
        <a:bodyPr/>
        <a:lstStyle/>
        <a:p>
          <a:endParaRPr lang="en-US"/>
        </a:p>
      </dgm:t>
    </dgm:pt>
    <dgm:pt modelId="{D85A708B-368C-45C6-9D15-33E3B0C9CB12}" type="sibTrans" cxnId="{9C10997E-B53A-47D6-9648-DD6630CF629E}">
      <dgm:prSet/>
      <dgm:spPr/>
      <dgm:t>
        <a:bodyPr/>
        <a:lstStyle/>
        <a:p>
          <a:endParaRPr lang="en-US"/>
        </a:p>
      </dgm:t>
    </dgm:pt>
    <dgm:pt modelId="{1E1ED65B-5A65-456F-A6B6-B962422CDF95}">
      <dgm:prSet custT="1"/>
      <dgm:spPr/>
      <dgm:t>
        <a:bodyPr/>
        <a:lstStyle/>
        <a:p>
          <a:pPr algn="ctr"/>
          <a:r>
            <a:rPr lang="it-IT" sz="1800" b="0" i="0" dirty="0" err="1"/>
            <a:t>causes</a:t>
          </a:r>
          <a:r>
            <a:rPr lang="it-IT" sz="1800" b="0" i="0" dirty="0"/>
            <a:t> </a:t>
          </a:r>
          <a:r>
            <a:rPr lang="it-IT" sz="1800" b="0" i="0" dirty="0" err="1"/>
            <a:t>several</a:t>
          </a:r>
          <a:r>
            <a:rPr lang="it-IT" sz="1800" b="0" i="0" dirty="0"/>
            <a:t> </a:t>
          </a:r>
          <a:r>
            <a:rPr lang="it-IT" sz="1800" b="0" i="0" dirty="0" err="1"/>
            <a:t>disabling</a:t>
          </a:r>
          <a:r>
            <a:rPr lang="it-IT" sz="1800" b="0" i="0" dirty="0"/>
            <a:t> </a:t>
          </a:r>
          <a:r>
            <a:rPr lang="it-IT" sz="1800" b="0" i="0" dirty="0" err="1"/>
            <a:t>symptoms</a:t>
          </a:r>
          <a:endParaRPr lang="en-US" sz="1800" dirty="0"/>
        </a:p>
      </dgm:t>
    </dgm:pt>
    <dgm:pt modelId="{786DBC1D-D54D-49B2-81CA-416BA390C2FF}" type="parTrans" cxnId="{B386F2EB-6076-4CDF-9324-90E4348ED114}">
      <dgm:prSet/>
      <dgm:spPr/>
      <dgm:t>
        <a:bodyPr/>
        <a:lstStyle/>
        <a:p>
          <a:endParaRPr lang="en-US"/>
        </a:p>
      </dgm:t>
    </dgm:pt>
    <dgm:pt modelId="{03802E44-D25C-49D0-88E4-9EDB14BD7594}" type="sibTrans" cxnId="{B386F2EB-6076-4CDF-9324-90E4348ED114}">
      <dgm:prSet/>
      <dgm:spPr/>
      <dgm:t>
        <a:bodyPr/>
        <a:lstStyle/>
        <a:p>
          <a:endParaRPr lang="en-US"/>
        </a:p>
      </dgm:t>
    </dgm:pt>
    <dgm:pt modelId="{E4EE91EA-2671-492F-B8A1-7C7AADFFF12F}" type="pres">
      <dgm:prSet presAssocID="{8DB7DB49-55C3-4149-BFEB-C01EEBBDB5B4}" presName="root" presStyleCnt="0">
        <dgm:presLayoutVars>
          <dgm:dir/>
          <dgm:resizeHandles val="exact"/>
        </dgm:presLayoutVars>
      </dgm:prSet>
      <dgm:spPr/>
    </dgm:pt>
    <dgm:pt modelId="{94ACB456-115F-46D8-B187-AF13A90A525F}" type="pres">
      <dgm:prSet presAssocID="{DC942135-9877-4634-BB69-29F25C1CD3D7}" presName="compNode" presStyleCnt="0"/>
      <dgm:spPr/>
    </dgm:pt>
    <dgm:pt modelId="{6A61CC64-1C67-4F5D-B5D0-A4B3C8D56B00}" type="pres">
      <dgm:prSet presAssocID="{DC942135-9877-4634-BB69-29F25C1CD3D7}" presName="bgRect" presStyleLbl="bgShp" presStyleIdx="0" presStyleCnt="3"/>
      <dgm:spPr/>
    </dgm:pt>
    <dgm:pt modelId="{F775E534-0519-4198-B028-CDCE3C5D1BCC}" type="pres">
      <dgm:prSet presAssocID="{DC942135-9877-4634-BB69-29F25C1CD3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ito cardiaco"/>
        </a:ext>
      </dgm:extLst>
    </dgm:pt>
    <dgm:pt modelId="{F4D67B41-A9B6-4B8A-866C-BB04732D6F45}" type="pres">
      <dgm:prSet presAssocID="{DC942135-9877-4634-BB69-29F25C1CD3D7}" presName="spaceRect" presStyleCnt="0"/>
      <dgm:spPr/>
    </dgm:pt>
    <dgm:pt modelId="{8CA42DF5-7643-4810-BE33-A662CD88130F}" type="pres">
      <dgm:prSet presAssocID="{DC942135-9877-4634-BB69-29F25C1CD3D7}" presName="parTx" presStyleLbl="revTx" presStyleIdx="0" presStyleCnt="3">
        <dgm:presLayoutVars>
          <dgm:chMax val="0"/>
          <dgm:chPref val="0"/>
        </dgm:presLayoutVars>
      </dgm:prSet>
      <dgm:spPr/>
    </dgm:pt>
    <dgm:pt modelId="{A8C5C41E-B9AF-43CE-9FAB-E9BAB50AA347}" type="pres">
      <dgm:prSet presAssocID="{858C14F7-38F4-4841-BDDB-EA03A1B7B812}" presName="sibTrans" presStyleCnt="0"/>
      <dgm:spPr/>
    </dgm:pt>
    <dgm:pt modelId="{A155808F-7FC1-4F53-8FD4-64A053F61774}" type="pres">
      <dgm:prSet presAssocID="{D841F530-121F-4321-8869-AB4BB8B7DE20}" presName="compNode" presStyleCnt="0"/>
      <dgm:spPr/>
    </dgm:pt>
    <dgm:pt modelId="{8CAE61B3-6C26-4642-BA08-3CC65BF9E7B0}" type="pres">
      <dgm:prSet presAssocID="{D841F530-121F-4321-8869-AB4BB8B7DE20}" presName="bgRect" presStyleLbl="bgShp" presStyleIdx="1" presStyleCnt="3"/>
      <dgm:spPr/>
    </dgm:pt>
    <dgm:pt modelId="{2BB6719E-69DE-4323-9EE6-F33D0D77A6CA}" type="pres">
      <dgm:prSet presAssocID="{D841F530-121F-4321-8869-AB4BB8B7DE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CAF9E3E6-2D5A-4697-87C6-03F3982EAEB8}" type="pres">
      <dgm:prSet presAssocID="{D841F530-121F-4321-8869-AB4BB8B7DE20}" presName="spaceRect" presStyleCnt="0"/>
      <dgm:spPr/>
    </dgm:pt>
    <dgm:pt modelId="{A058719A-FB08-4D64-B426-36FCD659A292}" type="pres">
      <dgm:prSet presAssocID="{D841F530-121F-4321-8869-AB4BB8B7DE20}" presName="parTx" presStyleLbl="revTx" presStyleIdx="1" presStyleCnt="3" custScaleY="99933">
        <dgm:presLayoutVars>
          <dgm:chMax val="0"/>
          <dgm:chPref val="0"/>
        </dgm:presLayoutVars>
      </dgm:prSet>
      <dgm:spPr/>
    </dgm:pt>
    <dgm:pt modelId="{24CD9C00-7542-4CD1-9855-20F174D98567}" type="pres">
      <dgm:prSet presAssocID="{D85A708B-368C-45C6-9D15-33E3B0C9CB12}" presName="sibTrans" presStyleCnt="0"/>
      <dgm:spPr/>
    </dgm:pt>
    <dgm:pt modelId="{89873AB6-1B15-44F4-89C5-7DCC80C454BF}" type="pres">
      <dgm:prSet presAssocID="{1E1ED65B-5A65-456F-A6B6-B962422CDF95}" presName="compNode" presStyleCnt="0"/>
      <dgm:spPr/>
    </dgm:pt>
    <dgm:pt modelId="{25BFD61A-2C60-4BFC-BAC4-AB083086DD0C}" type="pres">
      <dgm:prSet presAssocID="{1E1ED65B-5A65-456F-A6B6-B962422CDF95}" presName="bgRect" presStyleLbl="bgShp" presStyleIdx="2" presStyleCnt="3"/>
      <dgm:spPr/>
    </dgm:pt>
    <dgm:pt modelId="{6FF9388C-7325-438D-853E-514EB1524385}" type="pres">
      <dgm:prSet presAssocID="{1E1ED65B-5A65-456F-A6B6-B962422CDF9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993397B2-B3DB-440D-846A-CDA12E9DE8F3}" type="pres">
      <dgm:prSet presAssocID="{1E1ED65B-5A65-456F-A6B6-B962422CDF95}" presName="spaceRect" presStyleCnt="0"/>
      <dgm:spPr/>
    </dgm:pt>
    <dgm:pt modelId="{DB455500-A1C4-4B40-888C-B10FC85EA604}" type="pres">
      <dgm:prSet presAssocID="{1E1ED65B-5A65-456F-A6B6-B962422CDF9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2AF210D-B777-4AE2-814C-A0596D465F86}" type="presOf" srcId="{1E1ED65B-5A65-456F-A6B6-B962422CDF95}" destId="{DB455500-A1C4-4B40-888C-B10FC85EA604}" srcOrd="0" destOrd="0" presId="urn:microsoft.com/office/officeart/2018/2/layout/IconVerticalSolidList"/>
    <dgm:cxn modelId="{9C10997E-B53A-47D6-9648-DD6630CF629E}" srcId="{8DB7DB49-55C3-4149-BFEB-C01EEBBDB5B4}" destId="{D841F530-121F-4321-8869-AB4BB8B7DE20}" srcOrd="1" destOrd="0" parTransId="{15735793-2E80-4138-B055-81FF3C726E20}" sibTransId="{D85A708B-368C-45C6-9D15-33E3B0C9CB12}"/>
    <dgm:cxn modelId="{B3D0CAAC-8957-42E3-9B3C-3E2594940265}" type="presOf" srcId="{DC942135-9877-4634-BB69-29F25C1CD3D7}" destId="{8CA42DF5-7643-4810-BE33-A662CD88130F}" srcOrd="0" destOrd="0" presId="urn:microsoft.com/office/officeart/2018/2/layout/IconVerticalSolidList"/>
    <dgm:cxn modelId="{00BF3CBB-AF75-4937-979C-A8CD12F373BA}" type="presOf" srcId="{8DB7DB49-55C3-4149-BFEB-C01EEBBDB5B4}" destId="{E4EE91EA-2671-492F-B8A1-7C7AADFFF12F}" srcOrd="0" destOrd="0" presId="urn:microsoft.com/office/officeart/2018/2/layout/IconVerticalSolidList"/>
    <dgm:cxn modelId="{620594DD-3C8C-48F4-89D7-C63874D66AEC}" srcId="{8DB7DB49-55C3-4149-BFEB-C01EEBBDB5B4}" destId="{DC942135-9877-4634-BB69-29F25C1CD3D7}" srcOrd="0" destOrd="0" parTransId="{DB9986DB-3DC8-4367-AE91-A896CFBDC4D5}" sibTransId="{858C14F7-38F4-4841-BDDB-EA03A1B7B812}"/>
    <dgm:cxn modelId="{B386F2EB-6076-4CDF-9324-90E4348ED114}" srcId="{8DB7DB49-55C3-4149-BFEB-C01EEBBDB5B4}" destId="{1E1ED65B-5A65-456F-A6B6-B962422CDF95}" srcOrd="2" destOrd="0" parTransId="{786DBC1D-D54D-49B2-81CA-416BA390C2FF}" sibTransId="{03802E44-D25C-49D0-88E4-9EDB14BD7594}"/>
    <dgm:cxn modelId="{7734D5F3-5E9E-46C7-BB1B-88D48E9C56D5}" type="presOf" srcId="{D841F530-121F-4321-8869-AB4BB8B7DE20}" destId="{A058719A-FB08-4D64-B426-36FCD659A292}" srcOrd="0" destOrd="0" presId="urn:microsoft.com/office/officeart/2018/2/layout/IconVerticalSolidList"/>
    <dgm:cxn modelId="{F54FAB84-20FE-4827-A0FD-B5F98DE010ED}" type="presParOf" srcId="{E4EE91EA-2671-492F-B8A1-7C7AADFFF12F}" destId="{94ACB456-115F-46D8-B187-AF13A90A525F}" srcOrd="0" destOrd="0" presId="urn:microsoft.com/office/officeart/2018/2/layout/IconVerticalSolidList"/>
    <dgm:cxn modelId="{4DC194FB-2697-4222-8622-4B1E15A2B72E}" type="presParOf" srcId="{94ACB456-115F-46D8-B187-AF13A90A525F}" destId="{6A61CC64-1C67-4F5D-B5D0-A4B3C8D56B00}" srcOrd="0" destOrd="0" presId="urn:microsoft.com/office/officeart/2018/2/layout/IconVerticalSolidList"/>
    <dgm:cxn modelId="{96815EAE-6E0C-4712-B7F6-525AD8F90030}" type="presParOf" srcId="{94ACB456-115F-46D8-B187-AF13A90A525F}" destId="{F775E534-0519-4198-B028-CDCE3C5D1BCC}" srcOrd="1" destOrd="0" presId="urn:microsoft.com/office/officeart/2018/2/layout/IconVerticalSolidList"/>
    <dgm:cxn modelId="{E11475A5-B878-4FB4-9823-54C47D473B6C}" type="presParOf" srcId="{94ACB456-115F-46D8-B187-AF13A90A525F}" destId="{F4D67B41-A9B6-4B8A-866C-BB04732D6F45}" srcOrd="2" destOrd="0" presId="urn:microsoft.com/office/officeart/2018/2/layout/IconVerticalSolidList"/>
    <dgm:cxn modelId="{52E1768A-B360-4D7E-B327-FB6A1EBCAE48}" type="presParOf" srcId="{94ACB456-115F-46D8-B187-AF13A90A525F}" destId="{8CA42DF5-7643-4810-BE33-A662CD88130F}" srcOrd="3" destOrd="0" presId="urn:microsoft.com/office/officeart/2018/2/layout/IconVerticalSolidList"/>
    <dgm:cxn modelId="{A051A667-E8EF-47B6-8D25-4AF55AF1912F}" type="presParOf" srcId="{E4EE91EA-2671-492F-B8A1-7C7AADFFF12F}" destId="{A8C5C41E-B9AF-43CE-9FAB-E9BAB50AA347}" srcOrd="1" destOrd="0" presId="urn:microsoft.com/office/officeart/2018/2/layout/IconVerticalSolidList"/>
    <dgm:cxn modelId="{B553E29E-68A3-4999-B7EF-2A716C4709BB}" type="presParOf" srcId="{E4EE91EA-2671-492F-B8A1-7C7AADFFF12F}" destId="{A155808F-7FC1-4F53-8FD4-64A053F61774}" srcOrd="2" destOrd="0" presId="urn:microsoft.com/office/officeart/2018/2/layout/IconVerticalSolidList"/>
    <dgm:cxn modelId="{44C29B39-4757-482C-9FEE-3CFF91DDC2B7}" type="presParOf" srcId="{A155808F-7FC1-4F53-8FD4-64A053F61774}" destId="{8CAE61B3-6C26-4642-BA08-3CC65BF9E7B0}" srcOrd="0" destOrd="0" presId="urn:microsoft.com/office/officeart/2018/2/layout/IconVerticalSolidList"/>
    <dgm:cxn modelId="{FC62CE1D-B74A-453A-93FF-61545CB1D532}" type="presParOf" srcId="{A155808F-7FC1-4F53-8FD4-64A053F61774}" destId="{2BB6719E-69DE-4323-9EE6-F33D0D77A6CA}" srcOrd="1" destOrd="0" presId="urn:microsoft.com/office/officeart/2018/2/layout/IconVerticalSolidList"/>
    <dgm:cxn modelId="{F9938AE2-51B7-4002-975A-09A124327FD6}" type="presParOf" srcId="{A155808F-7FC1-4F53-8FD4-64A053F61774}" destId="{CAF9E3E6-2D5A-4697-87C6-03F3982EAEB8}" srcOrd="2" destOrd="0" presId="urn:microsoft.com/office/officeart/2018/2/layout/IconVerticalSolidList"/>
    <dgm:cxn modelId="{233B3428-20F8-42A3-9C82-3FD40AD3CD75}" type="presParOf" srcId="{A155808F-7FC1-4F53-8FD4-64A053F61774}" destId="{A058719A-FB08-4D64-B426-36FCD659A292}" srcOrd="3" destOrd="0" presId="urn:microsoft.com/office/officeart/2018/2/layout/IconVerticalSolidList"/>
    <dgm:cxn modelId="{B672B042-D21F-474D-AE9F-FB757FA95625}" type="presParOf" srcId="{E4EE91EA-2671-492F-B8A1-7C7AADFFF12F}" destId="{24CD9C00-7542-4CD1-9855-20F174D98567}" srcOrd="3" destOrd="0" presId="urn:microsoft.com/office/officeart/2018/2/layout/IconVerticalSolidList"/>
    <dgm:cxn modelId="{17194979-C1AE-421E-94A0-DAE464B39D00}" type="presParOf" srcId="{E4EE91EA-2671-492F-B8A1-7C7AADFFF12F}" destId="{89873AB6-1B15-44F4-89C5-7DCC80C454BF}" srcOrd="4" destOrd="0" presId="urn:microsoft.com/office/officeart/2018/2/layout/IconVerticalSolidList"/>
    <dgm:cxn modelId="{DE5B835D-664F-4E0A-9ABE-058F9ABA985A}" type="presParOf" srcId="{89873AB6-1B15-44F4-89C5-7DCC80C454BF}" destId="{25BFD61A-2C60-4BFC-BAC4-AB083086DD0C}" srcOrd="0" destOrd="0" presId="urn:microsoft.com/office/officeart/2018/2/layout/IconVerticalSolidList"/>
    <dgm:cxn modelId="{FEAA4AA1-2525-49CF-B7B5-52A769FC7819}" type="presParOf" srcId="{89873AB6-1B15-44F4-89C5-7DCC80C454BF}" destId="{6FF9388C-7325-438D-853E-514EB1524385}" srcOrd="1" destOrd="0" presId="urn:microsoft.com/office/officeart/2018/2/layout/IconVerticalSolidList"/>
    <dgm:cxn modelId="{6D367FB0-91B8-473F-9F90-673621B9C353}" type="presParOf" srcId="{89873AB6-1B15-44F4-89C5-7DCC80C454BF}" destId="{993397B2-B3DB-440D-846A-CDA12E9DE8F3}" srcOrd="2" destOrd="0" presId="urn:microsoft.com/office/officeart/2018/2/layout/IconVerticalSolidList"/>
    <dgm:cxn modelId="{73C98A99-F445-4843-920E-43B0F2E7B6DB}" type="presParOf" srcId="{89873AB6-1B15-44F4-89C5-7DCC80C454BF}" destId="{DB455500-A1C4-4B40-888C-B10FC85EA6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2EB9EB-3E09-B04D-9578-3CC6BB9B34D3}" type="doc">
      <dgm:prSet loTypeId="urn:microsoft.com/office/officeart/2005/8/layout/pList2" loCatId="relationship" qsTypeId="urn:microsoft.com/office/officeart/2005/8/quickstyle/simple1" qsCatId="simple" csTypeId="urn:microsoft.com/office/officeart/2005/8/colors/accent1_2" csCatId="accent1" phldr="1"/>
      <dgm:spPr/>
    </dgm:pt>
    <dgm:pt modelId="{A7783976-F455-A245-BCD4-6D008A8884CC}">
      <dgm:prSet phldrT="[Testo]" custT="1"/>
      <dgm:spPr/>
      <dgm:t>
        <a:bodyPr anchor="ctr"/>
        <a:lstStyle/>
        <a:p>
          <a:r>
            <a:rPr lang="en-US" sz="1800" dirty="0"/>
            <a:t>Higher HR during AF cause a general alteration of CBF and imbalance of the myocardial oxygen supply-demand ratio</a:t>
          </a:r>
          <a:endParaRPr lang="it-IT" sz="1800" dirty="0"/>
        </a:p>
      </dgm:t>
    </dgm:pt>
    <dgm:pt modelId="{5F950696-7265-D241-992A-A668D1550A7F}" type="parTrans" cxnId="{94C93C0A-4C6A-A24C-9FC1-9127936CDBC6}">
      <dgm:prSet/>
      <dgm:spPr/>
      <dgm:t>
        <a:bodyPr/>
        <a:lstStyle/>
        <a:p>
          <a:endParaRPr lang="it-IT"/>
        </a:p>
      </dgm:t>
    </dgm:pt>
    <dgm:pt modelId="{0541E865-A836-DE43-8482-32044A448454}" type="sibTrans" cxnId="{94C93C0A-4C6A-A24C-9FC1-9127936CDBC6}">
      <dgm:prSet/>
      <dgm:spPr/>
      <dgm:t>
        <a:bodyPr/>
        <a:lstStyle/>
        <a:p>
          <a:endParaRPr lang="it-IT"/>
        </a:p>
      </dgm:t>
    </dgm:pt>
    <dgm:pt modelId="{96794EF8-14F9-F947-956D-3EB5D50B6750}">
      <dgm:prSet phldrT="[Testo]" custT="1"/>
      <dgm:spPr/>
      <dgm:t>
        <a:bodyPr anchor="ctr"/>
        <a:lstStyle/>
        <a:p>
          <a:r>
            <a:rPr lang="en-US" sz="2000" dirty="0"/>
            <a:t>CPP is no longer a good index to approximate the CBF for HR higher than 90 bpm</a:t>
          </a:r>
          <a:endParaRPr lang="it-IT" sz="2000" dirty="0"/>
        </a:p>
      </dgm:t>
    </dgm:pt>
    <dgm:pt modelId="{C9170195-65C1-3349-A55C-85AF03766CCF}" type="parTrans" cxnId="{FD48AED5-4E4B-9F47-B450-086F1539D656}">
      <dgm:prSet/>
      <dgm:spPr/>
      <dgm:t>
        <a:bodyPr/>
        <a:lstStyle/>
        <a:p>
          <a:endParaRPr lang="it-IT"/>
        </a:p>
      </dgm:t>
    </dgm:pt>
    <dgm:pt modelId="{45F19044-37EB-324B-83FD-3CFC30D020B0}" type="sibTrans" cxnId="{FD48AED5-4E4B-9F47-B450-086F1539D656}">
      <dgm:prSet/>
      <dgm:spPr/>
      <dgm:t>
        <a:bodyPr/>
        <a:lstStyle/>
        <a:p>
          <a:endParaRPr lang="it-IT"/>
        </a:p>
      </dgm:t>
    </dgm:pt>
    <dgm:pt modelId="{BE769D1E-A69B-AD49-BE14-B057A9DB099B}">
      <dgm:prSet phldrT="[Testo]" custT="1"/>
      <dgm:spPr/>
      <dgm:t>
        <a:bodyPr anchor="ctr"/>
        <a:lstStyle/>
        <a:p>
          <a:pPr algn="ctr"/>
          <a:r>
            <a:rPr lang="en-US" sz="2000" dirty="0"/>
            <a:t>Waveform and amplitude of the CBF rate are deeply modified by increasing HR</a:t>
          </a:r>
          <a:endParaRPr lang="it-IT" sz="2000" dirty="0"/>
        </a:p>
      </dgm:t>
    </dgm:pt>
    <dgm:pt modelId="{9B049455-1942-A745-8005-B765B581AABF}" type="sibTrans" cxnId="{66F635E4-C000-CF41-8121-1AFBBD1071DA}">
      <dgm:prSet/>
      <dgm:spPr/>
      <dgm:t>
        <a:bodyPr/>
        <a:lstStyle/>
        <a:p>
          <a:endParaRPr lang="it-IT"/>
        </a:p>
      </dgm:t>
    </dgm:pt>
    <dgm:pt modelId="{EE61DCE5-4B09-9045-8AAD-A1175A40B5EB}" type="parTrans" cxnId="{66F635E4-C000-CF41-8121-1AFBBD1071DA}">
      <dgm:prSet/>
      <dgm:spPr/>
      <dgm:t>
        <a:bodyPr/>
        <a:lstStyle/>
        <a:p>
          <a:endParaRPr lang="it-IT"/>
        </a:p>
      </dgm:t>
    </dgm:pt>
    <dgm:pt modelId="{3542BDAC-F2D7-334F-BA51-FE891AD77453}" type="pres">
      <dgm:prSet presAssocID="{702EB9EB-3E09-B04D-9578-3CC6BB9B34D3}" presName="Name0" presStyleCnt="0">
        <dgm:presLayoutVars>
          <dgm:dir/>
          <dgm:resizeHandles val="exact"/>
        </dgm:presLayoutVars>
      </dgm:prSet>
      <dgm:spPr/>
    </dgm:pt>
    <dgm:pt modelId="{0070982F-8662-2949-8286-92A9435E3B5D}" type="pres">
      <dgm:prSet presAssocID="{702EB9EB-3E09-B04D-9578-3CC6BB9B34D3}" presName="bkgdShp" presStyleLbl="alignAccFollowNode1" presStyleIdx="0" presStyleCnt="1"/>
      <dgm:spPr/>
    </dgm:pt>
    <dgm:pt modelId="{998CF5A2-2221-AC4C-9146-97FE19DC214E}" type="pres">
      <dgm:prSet presAssocID="{702EB9EB-3E09-B04D-9578-3CC6BB9B34D3}" presName="linComp" presStyleCnt="0"/>
      <dgm:spPr/>
    </dgm:pt>
    <dgm:pt modelId="{691D9E14-DE84-F54E-B49A-5311DFD2EC04}" type="pres">
      <dgm:prSet presAssocID="{BE769D1E-A69B-AD49-BE14-B057A9DB099B}" presName="compNode" presStyleCnt="0"/>
      <dgm:spPr/>
    </dgm:pt>
    <dgm:pt modelId="{E27343BA-F4AC-D54B-9E43-64669F752ECA}" type="pres">
      <dgm:prSet presAssocID="{BE769D1E-A69B-AD49-BE14-B057A9DB099B}" presName="node" presStyleLbl="node1" presStyleIdx="0" presStyleCnt="3">
        <dgm:presLayoutVars>
          <dgm:bulletEnabled val="1"/>
        </dgm:presLayoutVars>
      </dgm:prSet>
      <dgm:spPr/>
    </dgm:pt>
    <dgm:pt modelId="{E643013C-272D-264B-B465-244C0190F939}" type="pres">
      <dgm:prSet presAssocID="{BE769D1E-A69B-AD49-BE14-B057A9DB099B}" presName="invisiNode" presStyleLbl="node1" presStyleIdx="0" presStyleCnt="3"/>
      <dgm:spPr/>
    </dgm:pt>
    <dgm:pt modelId="{4ECCD406-8BFF-6F4A-B3E5-0EA8DADB0277}" type="pres">
      <dgm:prSet presAssocID="{BE769D1E-A69B-AD49-BE14-B057A9DB099B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</dgm:pt>
    <dgm:pt modelId="{127EC1B6-09C7-E344-86EC-97E0706F4FB8}" type="pres">
      <dgm:prSet presAssocID="{9B049455-1942-A745-8005-B765B581AABF}" presName="sibTrans" presStyleLbl="sibTrans2D1" presStyleIdx="0" presStyleCnt="0"/>
      <dgm:spPr/>
    </dgm:pt>
    <dgm:pt modelId="{2A8D7958-3167-C144-90DC-8880E8375341}" type="pres">
      <dgm:prSet presAssocID="{A7783976-F455-A245-BCD4-6D008A8884CC}" presName="compNode" presStyleCnt="0"/>
      <dgm:spPr/>
    </dgm:pt>
    <dgm:pt modelId="{A46C266C-A075-6047-9998-732A5C25409C}" type="pres">
      <dgm:prSet presAssocID="{A7783976-F455-A245-BCD4-6D008A8884CC}" presName="node" presStyleLbl="node1" presStyleIdx="1" presStyleCnt="3">
        <dgm:presLayoutVars>
          <dgm:bulletEnabled val="1"/>
        </dgm:presLayoutVars>
      </dgm:prSet>
      <dgm:spPr/>
    </dgm:pt>
    <dgm:pt modelId="{55FBEE02-CBB5-034F-8EE8-0AD90A5C36DE}" type="pres">
      <dgm:prSet presAssocID="{A7783976-F455-A245-BCD4-6D008A8884CC}" presName="invisiNode" presStyleLbl="node1" presStyleIdx="1" presStyleCnt="3"/>
      <dgm:spPr/>
    </dgm:pt>
    <dgm:pt modelId="{9065AF29-95A8-C145-BD43-44DD1D709ABE}" type="pres">
      <dgm:prSet presAssocID="{A7783976-F455-A245-BCD4-6D008A8884CC}" presName="imagNode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 t="-1000" b="-1000"/>
          </a:stretch>
        </a:blipFill>
      </dgm:spPr>
    </dgm:pt>
    <dgm:pt modelId="{4E7FCFBB-6D84-A04F-A720-5BA8CB63FA66}" type="pres">
      <dgm:prSet presAssocID="{0541E865-A836-DE43-8482-32044A448454}" presName="sibTrans" presStyleLbl="sibTrans2D1" presStyleIdx="0" presStyleCnt="0"/>
      <dgm:spPr/>
    </dgm:pt>
    <dgm:pt modelId="{7556F9ED-98C4-AB44-AAB3-C0B19E278DBC}" type="pres">
      <dgm:prSet presAssocID="{96794EF8-14F9-F947-956D-3EB5D50B6750}" presName="compNode" presStyleCnt="0"/>
      <dgm:spPr/>
    </dgm:pt>
    <dgm:pt modelId="{3A06EE16-8315-0045-B899-0648711770EE}" type="pres">
      <dgm:prSet presAssocID="{96794EF8-14F9-F947-956D-3EB5D50B6750}" presName="node" presStyleLbl="node1" presStyleIdx="2" presStyleCnt="3">
        <dgm:presLayoutVars>
          <dgm:bulletEnabled val="1"/>
        </dgm:presLayoutVars>
      </dgm:prSet>
      <dgm:spPr/>
    </dgm:pt>
    <dgm:pt modelId="{3D225644-2B8C-B746-A8C3-46FA690386A7}" type="pres">
      <dgm:prSet presAssocID="{96794EF8-14F9-F947-956D-3EB5D50B6750}" presName="invisiNode" presStyleLbl="node1" presStyleIdx="2" presStyleCnt="3"/>
      <dgm:spPr/>
    </dgm:pt>
    <dgm:pt modelId="{99C5999D-4F31-B848-901A-ED8346DD9525}" type="pres">
      <dgm:prSet presAssocID="{96794EF8-14F9-F947-956D-3EB5D50B6750}" presName="imagNode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 t="-6000" b="-6000"/>
          </a:stretch>
        </a:blipFill>
      </dgm:spPr>
    </dgm:pt>
  </dgm:ptLst>
  <dgm:cxnLst>
    <dgm:cxn modelId="{94C93C0A-4C6A-A24C-9FC1-9127936CDBC6}" srcId="{702EB9EB-3E09-B04D-9578-3CC6BB9B34D3}" destId="{A7783976-F455-A245-BCD4-6D008A8884CC}" srcOrd="1" destOrd="0" parTransId="{5F950696-7265-D241-992A-A668D1550A7F}" sibTransId="{0541E865-A836-DE43-8482-32044A448454}"/>
    <dgm:cxn modelId="{960B2122-3632-D143-BA82-8B21C2AF9864}" type="presOf" srcId="{0541E865-A836-DE43-8482-32044A448454}" destId="{4E7FCFBB-6D84-A04F-A720-5BA8CB63FA66}" srcOrd="0" destOrd="0" presId="urn:microsoft.com/office/officeart/2005/8/layout/pList2"/>
    <dgm:cxn modelId="{6AF44E35-5B9A-1445-91C3-D305354322AF}" type="presOf" srcId="{BE769D1E-A69B-AD49-BE14-B057A9DB099B}" destId="{E27343BA-F4AC-D54B-9E43-64669F752ECA}" srcOrd="0" destOrd="0" presId="urn:microsoft.com/office/officeart/2005/8/layout/pList2"/>
    <dgm:cxn modelId="{6D3C508A-E61F-6947-B862-A81F4ED5452B}" type="presOf" srcId="{96794EF8-14F9-F947-956D-3EB5D50B6750}" destId="{3A06EE16-8315-0045-B899-0648711770EE}" srcOrd="0" destOrd="0" presId="urn:microsoft.com/office/officeart/2005/8/layout/pList2"/>
    <dgm:cxn modelId="{3E8A5F8F-BEBE-4246-81F5-2A9D40E1244B}" type="presOf" srcId="{9B049455-1942-A745-8005-B765B581AABF}" destId="{127EC1B6-09C7-E344-86EC-97E0706F4FB8}" srcOrd="0" destOrd="0" presId="urn:microsoft.com/office/officeart/2005/8/layout/pList2"/>
    <dgm:cxn modelId="{D25AADB7-BCC2-314B-ACF4-9094810983D4}" type="presOf" srcId="{702EB9EB-3E09-B04D-9578-3CC6BB9B34D3}" destId="{3542BDAC-F2D7-334F-BA51-FE891AD77453}" srcOrd="0" destOrd="0" presId="urn:microsoft.com/office/officeart/2005/8/layout/pList2"/>
    <dgm:cxn modelId="{7EAAF2C8-4C42-3341-9A86-4DAD7E32AB20}" type="presOf" srcId="{A7783976-F455-A245-BCD4-6D008A8884CC}" destId="{A46C266C-A075-6047-9998-732A5C25409C}" srcOrd="0" destOrd="0" presId="urn:microsoft.com/office/officeart/2005/8/layout/pList2"/>
    <dgm:cxn modelId="{FD48AED5-4E4B-9F47-B450-086F1539D656}" srcId="{702EB9EB-3E09-B04D-9578-3CC6BB9B34D3}" destId="{96794EF8-14F9-F947-956D-3EB5D50B6750}" srcOrd="2" destOrd="0" parTransId="{C9170195-65C1-3349-A55C-85AF03766CCF}" sibTransId="{45F19044-37EB-324B-83FD-3CFC30D020B0}"/>
    <dgm:cxn modelId="{66F635E4-C000-CF41-8121-1AFBBD1071DA}" srcId="{702EB9EB-3E09-B04D-9578-3CC6BB9B34D3}" destId="{BE769D1E-A69B-AD49-BE14-B057A9DB099B}" srcOrd="0" destOrd="0" parTransId="{EE61DCE5-4B09-9045-8AAD-A1175A40B5EB}" sibTransId="{9B049455-1942-A745-8005-B765B581AABF}"/>
    <dgm:cxn modelId="{CCA5B127-EBE6-244C-8980-5F05309A471D}" type="presParOf" srcId="{3542BDAC-F2D7-334F-BA51-FE891AD77453}" destId="{0070982F-8662-2949-8286-92A9435E3B5D}" srcOrd="0" destOrd="0" presId="urn:microsoft.com/office/officeart/2005/8/layout/pList2"/>
    <dgm:cxn modelId="{7ECB6C7E-B45B-344E-8251-BFE9D797F3A5}" type="presParOf" srcId="{3542BDAC-F2D7-334F-BA51-FE891AD77453}" destId="{998CF5A2-2221-AC4C-9146-97FE19DC214E}" srcOrd="1" destOrd="0" presId="urn:microsoft.com/office/officeart/2005/8/layout/pList2"/>
    <dgm:cxn modelId="{7035E909-4223-EE44-9BA4-203E25E86662}" type="presParOf" srcId="{998CF5A2-2221-AC4C-9146-97FE19DC214E}" destId="{691D9E14-DE84-F54E-B49A-5311DFD2EC04}" srcOrd="0" destOrd="0" presId="urn:microsoft.com/office/officeart/2005/8/layout/pList2"/>
    <dgm:cxn modelId="{AE95E7A4-A17A-5F45-BB6E-A78AF8F92E96}" type="presParOf" srcId="{691D9E14-DE84-F54E-B49A-5311DFD2EC04}" destId="{E27343BA-F4AC-D54B-9E43-64669F752ECA}" srcOrd="0" destOrd="0" presId="urn:microsoft.com/office/officeart/2005/8/layout/pList2"/>
    <dgm:cxn modelId="{C86CA3E1-8CC4-444B-9F58-76CE4ECAA7A1}" type="presParOf" srcId="{691D9E14-DE84-F54E-B49A-5311DFD2EC04}" destId="{E643013C-272D-264B-B465-244C0190F939}" srcOrd="1" destOrd="0" presId="urn:microsoft.com/office/officeart/2005/8/layout/pList2"/>
    <dgm:cxn modelId="{69331C65-1B3A-8C43-B1D7-261EE8A1D2E7}" type="presParOf" srcId="{691D9E14-DE84-F54E-B49A-5311DFD2EC04}" destId="{4ECCD406-8BFF-6F4A-B3E5-0EA8DADB0277}" srcOrd="2" destOrd="0" presId="urn:microsoft.com/office/officeart/2005/8/layout/pList2"/>
    <dgm:cxn modelId="{E42AB5B3-3EAC-C544-B8F4-E597C2BD4AB0}" type="presParOf" srcId="{998CF5A2-2221-AC4C-9146-97FE19DC214E}" destId="{127EC1B6-09C7-E344-86EC-97E0706F4FB8}" srcOrd="1" destOrd="0" presId="urn:microsoft.com/office/officeart/2005/8/layout/pList2"/>
    <dgm:cxn modelId="{21620F5D-8EE3-994F-921B-C8F45E914A46}" type="presParOf" srcId="{998CF5A2-2221-AC4C-9146-97FE19DC214E}" destId="{2A8D7958-3167-C144-90DC-8880E8375341}" srcOrd="2" destOrd="0" presId="urn:microsoft.com/office/officeart/2005/8/layout/pList2"/>
    <dgm:cxn modelId="{06FE5084-CBED-604E-8783-8BEC37B3CAC4}" type="presParOf" srcId="{2A8D7958-3167-C144-90DC-8880E8375341}" destId="{A46C266C-A075-6047-9998-732A5C25409C}" srcOrd="0" destOrd="0" presId="urn:microsoft.com/office/officeart/2005/8/layout/pList2"/>
    <dgm:cxn modelId="{6B39E341-AE47-F149-8FE6-1A0D5C9EA681}" type="presParOf" srcId="{2A8D7958-3167-C144-90DC-8880E8375341}" destId="{55FBEE02-CBB5-034F-8EE8-0AD90A5C36DE}" srcOrd="1" destOrd="0" presId="urn:microsoft.com/office/officeart/2005/8/layout/pList2"/>
    <dgm:cxn modelId="{C8B5479B-E49B-BC43-965F-069E1B56E66C}" type="presParOf" srcId="{2A8D7958-3167-C144-90DC-8880E8375341}" destId="{9065AF29-95A8-C145-BD43-44DD1D709ABE}" srcOrd="2" destOrd="0" presId="urn:microsoft.com/office/officeart/2005/8/layout/pList2"/>
    <dgm:cxn modelId="{811B9AE4-3E8A-F04B-BA2A-AF2A0FF438B3}" type="presParOf" srcId="{998CF5A2-2221-AC4C-9146-97FE19DC214E}" destId="{4E7FCFBB-6D84-A04F-A720-5BA8CB63FA66}" srcOrd="3" destOrd="0" presId="urn:microsoft.com/office/officeart/2005/8/layout/pList2"/>
    <dgm:cxn modelId="{6E654E16-32C8-F143-88A2-512F39E21C3C}" type="presParOf" srcId="{998CF5A2-2221-AC4C-9146-97FE19DC214E}" destId="{7556F9ED-98C4-AB44-AAB3-C0B19E278DBC}" srcOrd="4" destOrd="0" presId="urn:microsoft.com/office/officeart/2005/8/layout/pList2"/>
    <dgm:cxn modelId="{C4F6E0C5-91EE-9F44-99F5-618141101867}" type="presParOf" srcId="{7556F9ED-98C4-AB44-AAB3-C0B19E278DBC}" destId="{3A06EE16-8315-0045-B899-0648711770EE}" srcOrd="0" destOrd="0" presId="urn:microsoft.com/office/officeart/2005/8/layout/pList2"/>
    <dgm:cxn modelId="{4D0F4378-5902-524E-98FA-82A19F35F0B5}" type="presParOf" srcId="{7556F9ED-98C4-AB44-AAB3-C0B19E278DBC}" destId="{3D225644-2B8C-B746-A8C3-46FA690386A7}" srcOrd="1" destOrd="0" presId="urn:microsoft.com/office/officeart/2005/8/layout/pList2"/>
    <dgm:cxn modelId="{C130286D-DA9C-F64B-8BB1-70436837233D}" type="presParOf" srcId="{7556F9ED-98C4-AB44-AAB3-C0B19E278DBC}" destId="{99C5999D-4F31-B848-901A-ED8346DD9525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63BF9F-368F-4E09-8D03-CBB121C7F75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AA2429-2AB3-41CA-BA08-56933369EA0B}">
      <dgm:prSet custT="1"/>
      <dgm:spPr/>
      <dgm:t>
        <a:bodyPr/>
        <a:lstStyle/>
        <a:p>
          <a:pPr algn="ctr"/>
          <a:r>
            <a:rPr lang="en-US" sz="2000" dirty="0">
              <a:latin typeface="+mn-lt"/>
            </a:rPr>
            <a:t>AF can significantly impact coronary hemodynamics</a:t>
          </a:r>
        </a:p>
      </dgm:t>
    </dgm:pt>
    <dgm:pt modelId="{3DF08BC4-86A1-447D-8F13-79C68841B42C}" type="parTrans" cxnId="{CE565B9C-0E0F-48B1-B84D-81399A77C3F1}">
      <dgm:prSet/>
      <dgm:spPr/>
      <dgm:t>
        <a:bodyPr/>
        <a:lstStyle/>
        <a:p>
          <a:endParaRPr lang="en-US"/>
        </a:p>
      </dgm:t>
    </dgm:pt>
    <dgm:pt modelId="{4C5FF4B1-2B9C-4DB0-8335-18E2873DE545}" type="sibTrans" cxnId="{CE565B9C-0E0F-48B1-B84D-81399A77C3F1}">
      <dgm:prSet/>
      <dgm:spPr/>
      <dgm:t>
        <a:bodyPr/>
        <a:lstStyle/>
        <a:p>
          <a:endParaRPr lang="en-US"/>
        </a:p>
      </dgm:t>
    </dgm:pt>
    <dgm:pt modelId="{8C86E8A0-1906-4FE1-BA2C-2CE3D5A01748}">
      <dgm:prSet custT="1"/>
      <dgm:spPr/>
      <dgm:t>
        <a:bodyPr/>
        <a:lstStyle/>
        <a:p>
          <a:pPr algn="ctr"/>
          <a:r>
            <a:rPr lang="en-US" sz="1800" dirty="0"/>
            <a:t>The main limitations of the </a:t>
          </a:r>
          <a:r>
            <a:rPr lang="en-US" sz="1800" dirty="0" err="1"/>
            <a:t>Mynard’s</a:t>
          </a:r>
          <a:r>
            <a:rPr lang="en-US" sz="1800" dirty="0"/>
            <a:t> model are related to simplifying assumptions</a:t>
          </a:r>
          <a:r>
            <a:rPr lang="en-US" sz="1100" dirty="0"/>
            <a:t>.</a:t>
          </a:r>
          <a:r>
            <a:rPr lang="it-IT" sz="1100" dirty="0"/>
            <a:t>  </a:t>
          </a:r>
          <a:endParaRPr lang="en-US" sz="1100" dirty="0"/>
        </a:p>
      </dgm:t>
    </dgm:pt>
    <dgm:pt modelId="{E8A7D892-B9CB-418C-9C30-82E27B6F59BA}" type="parTrans" cxnId="{8B3100D5-D21E-4C2D-A3A3-8000397F54E3}">
      <dgm:prSet/>
      <dgm:spPr/>
      <dgm:t>
        <a:bodyPr/>
        <a:lstStyle/>
        <a:p>
          <a:endParaRPr lang="en-US"/>
        </a:p>
      </dgm:t>
    </dgm:pt>
    <dgm:pt modelId="{D1D249B8-9AC7-45F9-857B-BAF169959159}" type="sibTrans" cxnId="{8B3100D5-D21E-4C2D-A3A3-8000397F54E3}">
      <dgm:prSet/>
      <dgm:spPr/>
      <dgm:t>
        <a:bodyPr/>
        <a:lstStyle/>
        <a:p>
          <a:endParaRPr lang="en-US"/>
        </a:p>
      </dgm:t>
    </dgm:pt>
    <dgm:pt modelId="{04BB84A1-051D-476A-A3B4-B6C8649D5738}">
      <dgm:prSet custT="1"/>
      <dgm:spPr/>
      <dgm:t>
        <a:bodyPr/>
        <a:lstStyle/>
        <a:p>
          <a:pPr algn="ctr"/>
          <a:r>
            <a:rPr lang="it-IT" sz="1800" b="0" i="0" dirty="0"/>
            <a:t>The </a:t>
          </a:r>
          <a:r>
            <a:rPr lang="it-IT" sz="1800" b="0" i="0" dirty="0" err="1"/>
            <a:t>limitations</a:t>
          </a:r>
          <a:r>
            <a:rPr lang="it-IT" sz="1800" b="0" i="0" dirty="0"/>
            <a:t> of the </a:t>
          </a:r>
          <a:r>
            <a:rPr lang="it-IT" sz="1800" b="0" i="0" dirty="0" err="1"/>
            <a:t>Scarsoglio</a:t>
          </a:r>
          <a:r>
            <a:rPr lang="it-IT" sz="1800" b="0" i="0" dirty="0"/>
            <a:t> model </a:t>
          </a:r>
          <a:r>
            <a:rPr lang="it-IT" sz="1800" b="0" i="0" dirty="0" err="1"/>
            <a:t>have</a:t>
          </a:r>
          <a:r>
            <a:rPr lang="it-IT" sz="1800" b="0" i="0" dirty="0"/>
            <a:t> been </a:t>
          </a:r>
          <a:r>
            <a:rPr lang="it-IT" sz="1800" b="0" i="0" dirty="0" err="1"/>
            <a:t>surpassed</a:t>
          </a:r>
          <a:r>
            <a:rPr lang="it-IT" sz="1800" b="0" i="0" dirty="0"/>
            <a:t> by the </a:t>
          </a:r>
          <a:r>
            <a:rPr lang="it-IT" sz="1800" b="0" i="0" dirty="0" err="1"/>
            <a:t>Saglietto</a:t>
          </a:r>
          <a:r>
            <a:rPr lang="it-IT" sz="1800" b="0" i="0" dirty="0"/>
            <a:t> model. </a:t>
          </a:r>
          <a:endParaRPr lang="en-US" sz="1800" dirty="0"/>
        </a:p>
      </dgm:t>
    </dgm:pt>
    <dgm:pt modelId="{ED7FDFDE-C8D8-4034-B164-FD298FF933A4}" type="parTrans" cxnId="{4A8438E5-0C8F-46E0-AFA1-CA5E78E42AAA}">
      <dgm:prSet/>
      <dgm:spPr/>
      <dgm:t>
        <a:bodyPr/>
        <a:lstStyle/>
        <a:p>
          <a:endParaRPr lang="en-US"/>
        </a:p>
      </dgm:t>
    </dgm:pt>
    <dgm:pt modelId="{BDF35009-BD2C-4312-92D6-DAC52C8D9319}" type="sibTrans" cxnId="{4A8438E5-0C8F-46E0-AFA1-CA5E78E42AAA}">
      <dgm:prSet/>
      <dgm:spPr/>
      <dgm:t>
        <a:bodyPr/>
        <a:lstStyle/>
        <a:p>
          <a:endParaRPr lang="en-US"/>
        </a:p>
      </dgm:t>
    </dgm:pt>
    <dgm:pt modelId="{C925AF36-B807-4C20-A501-068E06A5E5DE}">
      <dgm:prSet custT="1"/>
      <dgm:spPr/>
      <dgm:t>
        <a:bodyPr/>
        <a:lstStyle/>
        <a:p>
          <a:pPr algn="ctr"/>
          <a:r>
            <a:rPr lang="en-US" sz="1800" dirty="0"/>
            <a:t>Computational modeling can provide valuable insights for clinical practice and guide further in vivo investigations. </a:t>
          </a:r>
        </a:p>
      </dgm:t>
    </dgm:pt>
    <dgm:pt modelId="{22C0C048-F0A1-48D2-8EDC-12A5322CB98B}" type="parTrans" cxnId="{2CD5A8A9-EB02-4272-8E2E-DBA7385D0DD4}">
      <dgm:prSet/>
      <dgm:spPr/>
      <dgm:t>
        <a:bodyPr/>
        <a:lstStyle/>
        <a:p>
          <a:endParaRPr lang="en-US"/>
        </a:p>
      </dgm:t>
    </dgm:pt>
    <dgm:pt modelId="{17DDF3A9-2054-4213-A047-AE7CB9AA0D07}" type="sibTrans" cxnId="{2CD5A8A9-EB02-4272-8E2E-DBA7385D0DD4}">
      <dgm:prSet/>
      <dgm:spPr/>
      <dgm:t>
        <a:bodyPr/>
        <a:lstStyle/>
        <a:p>
          <a:endParaRPr lang="en-US"/>
        </a:p>
      </dgm:t>
    </dgm:pt>
    <dgm:pt modelId="{22061118-9C33-ED4D-A8A9-8C79BF02BCE8}" type="pres">
      <dgm:prSet presAssocID="{7A63BF9F-368F-4E09-8D03-CBB121C7F75E}" presName="outerComposite" presStyleCnt="0">
        <dgm:presLayoutVars>
          <dgm:chMax val="5"/>
          <dgm:dir/>
          <dgm:resizeHandles val="exact"/>
        </dgm:presLayoutVars>
      </dgm:prSet>
      <dgm:spPr/>
    </dgm:pt>
    <dgm:pt modelId="{13B66CB0-A976-7942-88E8-0A092F07103E}" type="pres">
      <dgm:prSet presAssocID="{7A63BF9F-368F-4E09-8D03-CBB121C7F75E}" presName="dummyMaxCanvas" presStyleCnt="0">
        <dgm:presLayoutVars/>
      </dgm:prSet>
      <dgm:spPr/>
    </dgm:pt>
    <dgm:pt modelId="{4A645621-7BD2-4A4C-ABCD-16846B2D0139}" type="pres">
      <dgm:prSet presAssocID="{7A63BF9F-368F-4E09-8D03-CBB121C7F75E}" presName="FourNodes_1" presStyleLbl="node1" presStyleIdx="0" presStyleCnt="4">
        <dgm:presLayoutVars>
          <dgm:bulletEnabled val="1"/>
        </dgm:presLayoutVars>
      </dgm:prSet>
      <dgm:spPr/>
    </dgm:pt>
    <dgm:pt modelId="{04AA0550-80C8-C94A-B7E4-CDAE1B5E42D0}" type="pres">
      <dgm:prSet presAssocID="{7A63BF9F-368F-4E09-8D03-CBB121C7F75E}" presName="FourNodes_2" presStyleLbl="node1" presStyleIdx="1" presStyleCnt="4">
        <dgm:presLayoutVars>
          <dgm:bulletEnabled val="1"/>
        </dgm:presLayoutVars>
      </dgm:prSet>
      <dgm:spPr/>
    </dgm:pt>
    <dgm:pt modelId="{03EFF31A-61DC-954E-B8EF-6F8557788C70}" type="pres">
      <dgm:prSet presAssocID="{7A63BF9F-368F-4E09-8D03-CBB121C7F75E}" presName="FourNodes_3" presStyleLbl="node1" presStyleIdx="2" presStyleCnt="4">
        <dgm:presLayoutVars>
          <dgm:bulletEnabled val="1"/>
        </dgm:presLayoutVars>
      </dgm:prSet>
      <dgm:spPr/>
    </dgm:pt>
    <dgm:pt modelId="{3A35518F-C7BF-B144-B229-6389A07EA901}" type="pres">
      <dgm:prSet presAssocID="{7A63BF9F-368F-4E09-8D03-CBB121C7F75E}" presName="FourNodes_4" presStyleLbl="node1" presStyleIdx="3" presStyleCnt="4">
        <dgm:presLayoutVars>
          <dgm:bulletEnabled val="1"/>
        </dgm:presLayoutVars>
      </dgm:prSet>
      <dgm:spPr/>
    </dgm:pt>
    <dgm:pt modelId="{370228B4-845A-C140-B376-D11E1AAF7C75}" type="pres">
      <dgm:prSet presAssocID="{7A63BF9F-368F-4E09-8D03-CBB121C7F75E}" presName="FourConn_1-2" presStyleLbl="fgAccFollowNode1" presStyleIdx="0" presStyleCnt="3">
        <dgm:presLayoutVars>
          <dgm:bulletEnabled val="1"/>
        </dgm:presLayoutVars>
      </dgm:prSet>
      <dgm:spPr/>
    </dgm:pt>
    <dgm:pt modelId="{5FB91B3B-F7D5-3E4F-9871-87EF046AE3C1}" type="pres">
      <dgm:prSet presAssocID="{7A63BF9F-368F-4E09-8D03-CBB121C7F75E}" presName="FourConn_2-3" presStyleLbl="fgAccFollowNode1" presStyleIdx="1" presStyleCnt="3">
        <dgm:presLayoutVars>
          <dgm:bulletEnabled val="1"/>
        </dgm:presLayoutVars>
      </dgm:prSet>
      <dgm:spPr/>
    </dgm:pt>
    <dgm:pt modelId="{03E4EA37-7141-D646-A119-B4CB6A96DEB0}" type="pres">
      <dgm:prSet presAssocID="{7A63BF9F-368F-4E09-8D03-CBB121C7F75E}" presName="FourConn_3-4" presStyleLbl="fgAccFollowNode1" presStyleIdx="2" presStyleCnt="3">
        <dgm:presLayoutVars>
          <dgm:bulletEnabled val="1"/>
        </dgm:presLayoutVars>
      </dgm:prSet>
      <dgm:spPr/>
    </dgm:pt>
    <dgm:pt modelId="{375C3D9A-274A-7249-BBD7-0DA9667CC483}" type="pres">
      <dgm:prSet presAssocID="{7A63BF9F-368F-4E09-8D03-CBB121C7F75E}" presName="FourNodes_1_text" presStyleLbl="node1" presStyleIdx="3" presStyleCnt="4">
        <dgm:presLayoutVars>
          <dgm:bulletEnabled val="1"/>
        </dgm:presLayoutVars>
      </dgm:prSet>
      <dgm:spPr/>
    </dgm:pt>
    <dgm:pt modelId="{A70086FD-23D0-6C4F-B58F-57FD14950727}" type="pres">
      <dgm:prSet presAssocID="{7A63BF9F-368F-4E09-8D03-CBB121C7F75E}" presName="FourNodes_2_text" presStyleLbl="node1" presStyleIdx="3" presStyleCnt="4">
        <dgm:presLayoutVars>
          <dgm:bulletEnabled val="1"/>
        </dgm:presLayoutVars>
      </dgm:prSet>
      <dgm:spPr/>
    </dgm:pt>
    <dgm:pt modelId="{13C5BC80-9CB9-1D42-8EFB-15C3964FDF50}" type="pres">
      <dgm:prSet presAssocID="{7A63BF9F-368F-4E09-8D03-CBB121C7F75E}" presName="FourNodes_3_text" presStyleLbl="node1" presStyleIdx="3" presStyleCnt="4">
        <dgm:presLayoutVars>
          <dgm:bulletEnabled val="1"/>
        </dgm:presLayoutVars>
      </dgm:prSet>
      <dgm:spPr/>
    </dgm:pt>
    <dgm:pt modelId="{7952B29F-4A59-5947-8AFD-AB990CF2FA04}" type="pres">
      <dgm:prSet presAssocID="{7A63BF9F-368F-4E09-8D03-CBB121C7F75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1F3B814-8CFB-964E-915D-14559716071F}" type="presOf" srcId="{74AA2429-2AB3-41CA-BA08-56933369EA0B}" destId="{375C3D9A-274A-7249-BBD7-0DA9667CC483}" srcOrd="1" destOrd="0" presId="urn:microsoft.com/office/officeart/2005/8/layout/vProcess5"/>
    <dgm:cxn modelId="{C9A4B426-6F52-604D-BBE3-C1E85DBB26DF}" type="presOf" srcId="{74AA2429-2AB3-41CA-BA08-56933369EA0B}" destId="{4A645621-7BD2-4A4C-ABCD-16846B2D0139}" srcOrd="0" destOrd="0" presId="urn:microsoft.com/office/officeart/2005/8/layout/vProcess5"/>
    <dgm:cxn modelId="{ED97AD27-2FA6-4B4A-B892-80CF1D9698B1}" type="presOf" srcId="{8C86E8A0-1906-4FE1-BA2C-2CE3D5A01748}" destId="{A70086FD-23D0-6C4F-B58F-57FD14950727}" srcOrd="1" destOrd="0" presId="urn:microsoft.com/office/officeart/2005/8/layout/vProcess5"/>
    <dgm:cxn modelId="{D412F42D-36FE-7546-8079-030A88CE72A2}" type="presOf" srcId="{4C5FF4B1-2B9C-4DB0-8335-18E2873DE545}" destId="{370228B4-845A-C140-B376-D11E1AAF7C75}" srcOrd="0" destOrd="0" presId="urn:microsoft.com/office/officeart/2005/8/layout/vProcess5"/>
    <dgm:cxn modelId="{FA788B3F-6090-724D-885F-57885371A384}" type="presOf" srcId="{D1D249B8-9AC7-45F9-857B-BAF169959159}" destId="{5FB91B3B-F7D5-3E4F-9871-87EF046AE3C1}" srcOrd="0" destOrd="0" presId="urn:microsoft.com/office/officeart/2005/8/layout/vProcess5"/>
    <dgm:cxn modelId="{09D94473-EFB0-AF4A-BC1D-8F13D3DA3373}" type="presOf" srcId="{C925AF36-B807-4C20-A501-068E06A5E5DE}" destId="{7952B29F-4A59-5947-8AFD-AB990CF2FA04}" srcOrd="1" destOrd="0" presId="urn:microsoft.com/office/officeart/2005/8/layout/vProcess5"/>
    <dgm:cxn modelId="{7EBA8475-F9C1-BB4B-A113-69832E97CFD3}" type="presOf" srcId="{04BB84A1-051D-476A-A3B4-B6C8649D5738}" destId="{13C5BC80-9CB9-1D42-8EFB-15C3964FDF50}" srcOrd="1" destOrd="0" presId="urn:microsoft.com/office/officeart/2005/8/layout/vProcess5"/>
    <dgm:cxn modelId="{D587458B-AA76-7148-A195-CC7DECB58AB9}" type="presOf" srcId="{C925AF36-B807-4C20-A501-068E06A5E5DE}" destId="{3A35518F-C7BF-B144-B229-6389A07EA901}" srcOrd="0" destOrd="0" presId="urn:microsoft.com/office/officeart/2005/8/layout/vProcess5"/>
    <dgm:cxn modelId="{B8AC9892-1F6D-E64E-8432-368CD8A091FF}" type="presOf" srcId="{04BB84A1-051D-476A-A3B4-B6C8649D5738}" destId="{03EFF31A-61DC-954E-B8EF-6F8557788C70}" srcOrd="0" destOrd="0" presId="urn:microsoft.com/office/officeart/2005/8/layout/vProcess5"/>
    <dgm:cxn modelId="{CE565B9C-0E0F-48B1-B84D-81399A77C3F1}" srcId="{7A63BF9F-368F-4E09-8D03-CBB121C7F75E}" destId="{74AA2429-2AB3-41CA-BA08-56933369EA0B}" srcOrd="0" destOrd="0" parTransId="{3DF08BC4-86A1-447D-8F13-79C68841B42C}" sibTransId="{4C5FF4B1-2B9C-4DB0-8335-18E2873DE545}"/>
    <dgm:cxn modelId="{8896C69E-E9EC-7742-8CB8-7DD6666BBB49}" type="presOf" srcId="{7A63BF9F-368F-4E09-8D03-CBB121C7F75E}" destId="{22061118-9C33-ED4D-A8A9-8C79BF02BCE8}" srcOrd="0" destOrd="0" presId="urn:microsoft.com/office/officeart/2005/8/layout/vProcess5"/>
    <dgm:cxn modelId="{2CD5A8A9-EB02-4272-8E2E-DBA7385D0DD4}" srcId="{7A63BF9F-368F-4E09-8D03-CBB121C7F75E}" destId="{C925AF36-B807-4C20-A501-068E06A5E5DE}" srcOrd="3" destOrd="0" parTransId="{22C0C048-F0A1-48D2-8EDC-12A5322CB98B}" sibTransId="{17DDF3A9-2054-4213-A047-AE7CB9AA0D07}"/>
    <dgm:cxn modelId="{BBC542C3-B87F-114F-8DC2-9943DCD6A0ED}" type="presOf" srcId="{8C86E8A0-1906-4FE1-BA2C-2CE3D5A01748}" destId="{04AA0550-80C8-C94A-B7E4-CDAE1B5E42D0}" srcOrd="0" destOrd="0" presId="urn:microsoft.com/office/officeart/2005/8/layout/vProcess5"/>
    <dgm:cxn modelId="{ABCB50CF-36D0-CB4C-AE08-5732B6F5540F}" type="presOf" srcId="{BDF35009-BD2C-4312-92D6-DAC52C8D9319}" destId="{03E4EA37-7141-D646-A119-B4CB6A96DEB0}" srcOrd="0" destOrd="0" presId="urn:microsoft.com/office/officeart/2005/8/layout/vProcess5"/>
    <dgm:cxn modelId="{8B3100D5-D21E-4C2D-A3A3-8000397F54E3}" srcId="{7A63BF9F-368F-4E09-8D03-CBB121C7F75E}" destId="{8C86E8A0-1906-4FE1-BA2C-2CE3D5A01748}" srcOrd="1" destOrd="0" parTransId="{E8A7D892-B9CB-418C-9C30-82E27B6F59BA}" sibTransId="{D1D249B8-9AC7-45F9-857B-BAF169959159}"/>
    <dgm:cxn modelId="{4A8438E5-0C8F-46E0-AFA1-CA5E78E42AAA}" srcId="{7A63BF9F-368F-4E09-8D03-CBB121C7F75E}" destId="{04BB84A1-051D-476A-A3B4-B6C8649D5738}" srcOrd="2" destOrd="0" parTransId="{ED7FDFDE-C8D8-4034-B164-FD298FF933A4}" sibTransId="{BDF35009-BD2C-4312-92D6-DAC52C8D9319}"/>
    <dgm:cxn modelId="{28122F43-E998-AD43-BCE4-9A6DDB9B4F95}" type="presParOf" srcId="{22061118-9C33-ED4D-A8A9-8C79BF02BCE8}" destId="{13B66CB0-A976-7942-88E8-0A092F07103E}" srcOrd="0" destOrd="0" presId="urn:microsoft.com/office/officeart/2005/8/layout/vProcess5"/>
    <dgm:cxn modelId="{381185C2-FB1F-794B-8DB6-263DAA50A724}" type="presParOf" srcId="{22061118-9C33-ED4D-A8A9-8C79BF02BCE8}" destId="{4A645621-7BD2-4A4C-ABCD-16846B2D0139}" srcOrd="1" destOrd="0" presId="urn:microsoft.com/office/officeart/2005/8/layout/vProcess5"/>
    <dgm:cxn modelId="{AE9D9129-EBD3-0748-9A7D-21D1CBE7A409}" type="presParOf" srcId="{22061118-9C33-ED4D-A8A9-8C79BF02BCE8}" destId="{04AA0550-80C8-C94A-B7E4-CDAE1B5E42D0}" srcOrd="2" destOrd="0" presId="urn:microsoft.com/office/officeart/2005/8/layout/vProcess5"/>
    <dgm:cxn modelId="{8CF03362-B3E2-694C-8340-A906885E6CC5}" type="presParOf" srcId="{22061118-9C33-ED4D-A8A9-8C79BF02BCE8}" destId="{03EFF31A-61DC-954E-B8EF-6F8557788C70}" srcOrd="3" destOrd="0" presId="urn:microsoft.com/office/officeart/2005/8/layout/vProcess5"/>
    <dgm:cxn modelId="{D8783E27-3AAA-D24F-B7AE-F258ECC816B4}" type="presParOf" srcId="{22061118-9C33-ED4D-A8A9-8C79BF02BCE8}" destId="{3A35518F-C7BF-B144-B229-6389A07EA901}" srcOrd="4" destOrd="0" presId="urn:microsoft.com/office/officeart/2005/8/layout/vProcess5"/>
    <dgm:cxn modelId="{0E9665B0-46C6-6A41-9525-BBA53FBBDAA3}" type="presParOf" srcId="{22061118-9C33-ED4D-A8A9-8C79BF02BCE8}" destId="{370228B4-845A-C140-B376-D11E1AAF7C75}" srcOrd="5" destOrd="0" presId="urn:microsoft.com/office/officeart/2005/8/layout/vProcess5"/>
    <dgm:cxn modelId="{A9F23A74-21CD-F84E-AE8D-47EC79E2C8C9}" type="presParOf" srcId="{22061118-9C33-ED4D-A8A9-8C79BF02BCE8}" destId="{5FB91B3B-F7D5-3E4F-9871-87EF046AE3C1}" srcOrd="6" destOrd="0" presId="urn:microsoft.com/office/officeart/2005/8/layout/vProcess5"/>
    <dgm:cxn modelId="{F5511EF3-F0CF-B447-ADE4-C1920CF7C670}" type="presParOf" srcId="{22061118-9C33-ED4D-A8A9-8C79BF02BCE8}" destId="{03E4EA37-7141-D646-A119-B4CB6A96DEB0}" srcOrd="7" destOrd="0" presId="urn:microsoft.com/office/officeart/2005/8/layout/vProcess5"/>
    <dgm:cxn modelId="{920FF967-A2DA-FE4D-97BF-58369A5DA3BB}" type="presParOf" srcId="{22061118-9C33-ED4D-A8A9-8C79BF02BCE8}" destId="{375C3D9A-274A-7249-BBD7-0DA9667CC483}" srcOrd="8" destOrd="0" presId="urn:microsoft.com/office/officeart/2005/8/layout/vProcess5"/>
    <dgm:cxn modelId="{63C0BEC1-B9EE-774E-AED0-444157E8B6F2}" type="presParOf" srcId="{22061118-9C33-ED4D-A8A9-8C79BF02BCE8}" destId="{A70086FD-23D0-6C4F-B58F-57FD14950727}" srcOrd="9" destOrd="0" presId="urn:microsoft.com/office/officeart/2005/8/layout/vProcess5"/>
    <dgm:cxn modelId="{DDBB97DF-30E7-CF4E-93E4-13E148E04E3E}" type="presParOf" srcId="{22061118-9C33-ED4D-A8A9-8C79BF02BCE8}" destId="{13C5BC80-9CB9-1D42-8EFB-15C3964FDF50}" srcOrd="10" destOrd="0" presId="urn:microsoft.com/office/officeart/2005/8/layout/vProcess5"/>
    <dgm:cxn modelId="{F764E62D-4D0B-AC41-A63E-1004A1C6AB97}" type="presParOf" srcId="{22061118-9C33-ED4D-A8A9-8C79BF02BCE8}" destId="{7952B29F-4A59-5947-8AFD-AB990CF2FA0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F4B77-28AC-534C-8D75-0F4018611C67}">
      <dsp:nvSpPr>
        <dsp:cNvPr id="0" name=""/>
        <dsp:cNvSpPr/>
      </dsp:nvSpPr>
      <dsp:spPr>
        <a:xfrm>
          <a:off x="3986212" y="2021575"/>
          <a:ext cx="2828925" cy="673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8735"/>
              </a:lnTo>
              <a:lnTo>
                <a:pt x="2828925" y="458735"/>
              </a:lnTo>
              <a:lnTo>
                <a:pt x="2828925" y="6731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C611B3-B24B-F941-BC5A-16A96C022ADD}">
      <dsp:nvSpPr>
        <dsp:cNvPr id="0" name=""/>
        <dsp:cNvSpPr/>
      </dsp:nvSpPr>
      <dsp:spPr>
        <a:xfrm>
          <a:off x="3940492" y="2021575"/>
          <a:ext cx="91440" cy="6731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731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EB15DA-6948-2043-8A8A-165C8710610C}">
      <dsp:nvSpPr>
        <dsp:cNvPr id="0" name=""/>
        <dsp:cNvSpPr/>
      </dsp:nvSpPr>
      <dsp:spPr>
        <a:xfrm>
          <a:off x="1157287" y="2021575"/>
          <a:ext cx="2828925" cy="673155"/>
        </a:xfrm>
        <a:custGeom>
          <a:avLst/>
          <a:gdLst/>
          <a:ahLst/>
          <a:cxnLst/>
          <a:rect l="0" t="0" r="0" b="0"/>
          <a:pathLst>
            <a:path>
              <a:moveTo>
                <a:pt x="2828925" y="0"/>
              </a:moveTo>
              <a:lnTo>
                <a:pt x="2828925" y="458735"/>
              </a:lnTo>
              <a:lnTo>
                <a:pt x="0" y="458735"/>
              </a:lnTo>
              <a:lnTo>
                <a:pt x="0" y="67315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B61533-EB45-C040-8CD5-B5B388DAA26D}">
      <dsp:nvSpPr>
        <dsp:cNvPr id="0" name=""/>
        <dsp:cNvSpPr/>
      </dsp:nvSpPr>
      <dsp:spPr>
        <a:xfrm>
          <a:off x="0" y="551819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61FAE-D6B1-2842-B15B-5FCC7782D358}">
      <dsp:nvSpPr>
        <dsp:cNvPr id="0" name=""/>
        <dsp:cNvSpPr/>
      </dsp:nvSpPr>
      <dsp:spPr>
        <a:xfrm>
          <a:off x="257174" y="796136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1" kern="1200" dirty="0"/>
            <a:t>Introduction: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brief description of Atrial Fibrillation</a:t>
          </a:r>
        </a:p>
      </dsp:txBody>
      <dsp:txXfrm>
        <a:off x="300222" y="839184"/>
        <a:ext cx="2228479" cy="1383659"/>
      </dsp:txXfrm>
    </dsp:sp>
    <dsp:sp modelId="{28CBAC0C-A136-344C-BDD7-55576C317B62}">
      <dsp:nvSpPr>
        <dsp:cNvPr id="0" name=""/>
        <dsp:cNvSpPr/>
      </dsp:nvSpPr>
      <dsp:spPr>
        <a:xfrm>
          <a:off x="2828924" y="551819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5DF22-DBF6-B74D-8807-7F0C2182B7CE}">
      <dsp:nvSpPr>
        <dsp:cNvPr id="0" name=""/>
        <dsp:cNvSpPr/>
      </dsp:nvSpPr>
      <dsp:spPr>
        <a:xfrm>
          <a:off x="3086099" y="796136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1" kern="1200" dirty="0"/>
            <a:t>Models:</a:t>
          </a:r>
          <a:endParaRPr lang="en-US" sz="1700" kern="1200" dirty="0"/>
        </a:p>
      </dsp:txBody>
      <dsp:txXfrm>
        <a:off x="3129147" y="839184"/>
        <a:ext cx="2228479" cy="1383659"/>
      </dsp:txXfrm>
    </dsp:sp>
    <dsp:sp modelId="{386BC990-52A6-1C4B-B536-F540881056BA}">
      <dsp:nvSpPr>
        <dsp:cNvPr id="0" name=""/>
        <dsp:cNvSpPr/>
      </dsp:nvSpPr>
      <dsp:spPr>
        <a:xfrm>
          <a:off x="0" y="2694730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0993D-C8B8-704A-93E3-0C5CBE521F7B}">
      <dsp:nvSpPr>
        <dsp:cNvPr id="0" name=""/>
        <dsp:cNvSpPr/>
      </dsp:nvSpPr>
      <dsp:spPr>
        <a:xfrm>
          <a:off x="257174" y="2939046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1" kern="1200"/>
            <a:t>1D – 0D Model of  Coronary Circulation</a:t>
          </a:r>
          <a:endParaRPr lang="en-US" sz="1700" kern="1200"/>
        </a:p>
      </dsp:txBody>
      <dsp:txXfrm>
        <a:off x="300222" y="2982094"/>
        <a:ext cx="2228479" cy="1383659"/>
      </dsp:txXfrm>
    </dsp:sp>
    <dsp:sp modelId="{C728BECC-6B74-5243-918C-94755BD282A8}">
      <dsp:nvSpPr>
        <dsp:cNvPr id="0" name=""/>
        <dsp:cNvSpPr/>
      </dsp:nvSpPr>
      <dsp:spPr>
        <a:xfrm>
          <a:off x="2828924" y="2694730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203948-3ADA-DE47-B0B6-FD5424CC9B0C}">
      <dsp:nvSpPr>
        <dsp:cNvPr id="0" name=""/>
        <dsp:cNvSpPr/>
      </dsp:nvSpPr>
      <dsp:spPr>
        <a:xfrm>
          <a:off x="3086099" y="2939046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1" kern="1200" dirty="0"/>
            <a:t>Impaired coronary blood flow at higher Heart Rates during AF: </a:t>
          </a:r>
          <a:r>
            <a:rPr lang="en-US" sz="1700" b="1" i="1" kern="1200" dirty="0"/>
            <a:t>Open – Loop Model</a:t>
          </a:r>
          <a:endParaRPr lang="en-US" sz="1700" kern="1200" dirty="0"/>
        </a:p>
      </dsp:txBody>
      <dsp:txXfrm>
        <a:off x="3129147" y="2982094"/>
        <a:ext cx="2228479" cy="1383659"/>
      </dsp:txXfrm>
    </dsp:sp>
    <dsp:sp modelId="{CD5A49ED-2D59-1040-A79C-0E3EFC60E825}">
      <dsp:nvSpPr>
        <dsp:cNvPr id="0" name=""/>
        <dsp:cNvSpPr/>
      </dsp:nvSpPr>
      <dsp:spPr>
        <a:xfrm>
          <a:off x="5657850" y="2694730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9AD99-4BBD-A340-B092-37CD9910F863}">
      <dsp:nvSpPr>
        <dsp:cNvPr id="0" name=""/>
        <dsp:cNvSpPr/>
      </dsp:nvSpPr>
      <dsp:spPr>
        <a:xfrm>
          <a:off x="5915024" y="2939046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1" kern="1200" dirty="0"/>
            <a:t>Analysis of AF effects on coronary perfusion across the different myocardial layers: </a:t>
          </a:r>
          <a:r>
            <a:rPr lang="en-US" sz="1700" b="1" i="1" kern="1200" dirty="0"/>
            <a:t>Close - Loop Model</a:t>
          </a:r>
          <a:endParaRPr lang="en-US" sz="1700" kern="1200" dirty="0"/>
        </a:p>
      </dsp:txBody>
      <dsp:txXfrm>
        <a:off x="5958072" y="2982094"/>
        <a:ext cx="2228479" cy="1383659"/>
      </dsp:txXfrm>
    </dsp:sp>
    <dsp:sp modelId="{1003B593-3964-884F-92FE-10280A666FA6}">
      <dsp:nvSpPr>
        <dsp:cNvPr id="0" name=""/>
        <dsp:cNvSpPr/>
      </dsp:nvSpPr>
      <dsp:spPr>
        <a:xfrm>
          <a:off x="5657850" y="551819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7EC14-9128-3A48-B99B-F9BF8A6B628C}">
      <dsp:nvSpPr>
        <dsp:cNvPr id="0" name=""/>
        <dsp:cNvSpPr/>
      </dsp:nvSpPr>
      <dsp:spPr>
        <a:xfrm>
          <a:off x="5915025" y="796136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1" kern="1200" dirty="0"/>
            <a:t>Conclusion and future developments</a:t>
          </a:r>
          <a:endParaRPr lang="en-US" sz="1700" kern="1200" dirty="0"/>
        </a:p>
      </dsp:txBody>
      <dsp:txXfrm>
        <a:off x="5958073" y="839184"/>
        <a:ext cx="2228479" cy="1383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61CC64-1C67-4F5D-B5D0-A4B3C8D56B00}">
      <dsp:nvSpPr>
        <dsp:cNvPr id="0" name=""/>
        <dsp:cNvSpPr/>
      </dsp:nvSpPr>
      <dsp:spPr>
        <a:xfrm>
          <a:off x="0" y="552"/>
          <a:ext cx="3977640" cy="1292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5E534-0519-4198-B028-CDCE3C5D1BCC}">
      <dsp:nvSpPr>
        <dsp:cNvPr id="0" name=""/>
        <dsp:cNvSpPr/>
      </dsp:nvSpPr>
      <dsp:spPr>
        <a:xfrm>
          <a:off x="391104" y="291456"/>
          <a:ext cx="711098" cy="711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42DF5-7643-4810-BE33-A662CD88130F}">
      <dsp:nvSpPr>
        <dsp:cNvPr id="0" name=""/>
        <dsp:cNvSpPr/>
      </dsp:nvSpPr>
      <dsp:spPr>
        <a:xfrm>
          <a:off x="1493307" y="552"/>
          <a:ext cx="2484332" cy="1292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33" tIns="136833" rIns="136833" bIns="13683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 err="1"/>
            <a:t>Most</a:t>
          </a:r>
          <a:r>
            <a:rPr lang="it-IT" sz="1800" kern="1200" dirty="0"/>
            <a:t> common </a:t>
          </a:r>
          <a:r>
            <a:rPr lang="it-IT" sz="1800" kern="1200" dirty="0" err="1"/>
            <a:t>arrhythmia</a:t>
          </a:r>
          <a:endParaRPr lang="en-US" sz="1800" kern="1200" dirty="0"/>
        </a:p>
      </dsp:txBody>
      <dsp:txXfrm>
        <a:off x="1493307" y="552"/>
        <a:ext cx="2484332" cy="1292907"/>
      </dsp:txXfrm>
    </dsp:sp>
    <dsp:sp modelId="{8CAE61B3-6C26-4642-BA08-3CC65BF9E7B0}">
      <dsp:nvSpPr>
        <dsp:cNvPr id="0" name=""/>
        <dsp:cNvSpPr/>
      </dsp:nvSpPr>
      <dsp:spPr>
        <a:xfrm>
          <a:off x="0" y="1616686"/>
          <a:ext cx="3977640" cy="1292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B6719E-69DE-4323-9EE6-F33D0D77A6CA}">
      <dsp:nvSpPr>
        <dsp:cNvPr id="0" name=""/>
        <dsp:cNvSpPr/>
      </dsp:nvSpPr>
      <dsp:spPr>
        <a:xfrm>
          <a:off x="391104" y="1907590"/>
          <a:ext cx="711098" cy="711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8719A-FB08-4D64-B426-36FCD659A292}">
      <dsp:nvSpPr>
        <dsp:cNvPr id="0" name=""/>
        <dsp:cNvSpPr/>
      </dsp:nvSpPr>
      <dsp:spPr>
        <a:xfrm>
          <a:off x="1493307" y="1617119"/>
          <a:ext cx="2484332" cy="1292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33" tIns="136833" rIns="136833" bIns="136833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 dirty="0" err="1"/>
            <a:t>Its</a:t>
          </a:r>
          <a:r>
            <a:rPr lang="it-IT" sz="1600" b="0" i="0" kern="1200" dirty="0"/>
            <a:t> </a:t>
          </a:r>
          <a:r>
            <a:rPr lang="it-IT" sz="1600" b="0" i="0" kern="1200" dirty="0" err="1"/>
            <a:t>prevalence</a:t>
          </a:r>
          <a:r>
            <a:rPr lang="it-IT" sz="1600" b="0" i="0" kern="1200" dirty="0"/>
            <a:t> has been </a:t>
          </a:r>
          <a:r>
            <a:rPr lang="it-IT" sz="1600" b="0" i="0" kern="1200" dirty="0" err="1"/>
            <a:t>steadily</a:t>
          </a:r>
          <a:r>
            <a:rPr lang="it-IT" sz="1600" b="0" i="0" kern="1200" dirty="0"/>
            <a:t> </a:t>
          </a:r>
          <a:r>
            <a:rPr lang="it-IT" sz="1600" b="0" i="0" kern="1200" dirty="0" err="1"/>
            <a:t>increasing</a:t>
          </a:r>
          <a:r>
            <a:rPr lang="it-IT" sz="1600" b="0" i="0" kern="1200" dirty="0"/>
            <a:t> over the </a:t>
          </a:r>
          <a:r>
            <a:rPr lang="it-IT" sz="1600" b="0" i="0" kern="1200" dirty="0" err="1"/>
            <a:t>past</a:t>
          </a:r>
          <a:r>
            <a:rPr lang="it-IT" sz="1600" b="0" i="0" kern="1200" dirty="0"/>
            <a:t> </a:t>
          </a:r>
          <a:r>
            <a:rPr lang="it-IT" sz="1600" b="0" i="0" kern="1200" dirty="0" err="1"/>
            <a:t>decades</a:t>
          </a:r>
          <a:endParaRPr lang="en-US" sz="1600" kern="1200" dirty="0"/>
        </a:p>
      </dsp:txBody>
      <dsp:txXfrm>
        <a:off x="1493307" y="1617119"/>
        <a:ext cx="2484332" cy="1292040"/>
      </dsp:txXfrm>
    </dsp:sp>
    <dsp:sp modelId="{25BFD61A-2C60-4BFC-BAC4-AB083086DD0C}">
      <dsp:nvSpPr>
        <dsp:cNvPr id="0" name=""/>
        <dsp:cNvSpPr/>
      </dsp:nvSpPr>
      <dsp:spPr>
        <a:xfrm>
          <a:off x="0" y="3232820"/>
          <a:ext cx="3977640" cy="12929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9388C-7325-438D-853E-514EB1524385}">
      <dsp:nvSpPr>
        <dsp:cNvPr id="0" name=""/>
        <dsp:cNvSpPr/>
      </dsp:nvSpPr>
      <dsp:spPr>
        <a:xfrm>
          <a:off x="391104" y="3523724"/>
          <a:ext cx="711098" cy="711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455500-A1C4-4B40-888C-B10FC85EA604}">
      <dsp:nvSpPr>
        <dsp:cNvPr id="0" name=""/>
        <dsp:cNvSpPr/>
      </dsp:nvSpPr>
      <dsp:spPr>
        <a:xfrm>
          <a:off x="1493307" y="3232820"/>
          <a:ext cx="2484332" cy="1292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33" tIns="136833" rIns="136833" bIns="13683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0" i="0" kern="1200" dirty="0" err="1"/>
            <a:t>causes</a:t>
          </a:r>
          <a:r>
            <a:rPr lang="it-IT" sz="1800" b="0" i="0" kern="1200" dirty="0"/>
            <a:t> </a:t>
          </a:r>
          <a:r>
            <a:rPr lang="it-IT" sz="1800" b="0" i="0" kern="1200" dirty="0" err="1"/>
            <a:t>several</a:t>
          </a:r>
          <a:r>
            <a:rPr lang="it-IT" sz="1800" b="0" i="0" kern="1200" dirty="0"/>
            <a:t> </a:t>
          </a:r>
          <a:r>
            <a:rPr lang="it-IT" sz="1800" b="0" i="0" kern="1200" dirty="0" err="1"/>
            <a:t>disabling</a:t>
          </a:r>
          <a:r>
            <a:rPr lang="it-IT" sz="1800" b="0" i="0" kern="1200" dirty="0"/>
            <a:t> </a:t>
          </a:r>
          <a:r>
            <a:rPr lang="it-IT" sz="1800" b="0" i="0" kern="1200" dirty="0" err="1"/>
            <a:t>symptoms</a:t>
          </a:r>
          <a:endParaRPr lang="en-US" sz="1800" kern="1200" dirty="0"/>
        </a:p>
      </dsp:txBody>
      <dsp:txXfrm>
        <a:off x="1493307" y="3232820"/>
        <a:ext cx="2484332" cy="12929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70982F-8662-2949-8286-92A9435E3B5D}">
      <dsp:nvSpPr>
        <dsp:cNvPr id="0" name=""/>
        <dsp:cNvSpPr/>
      </dsp:nvSpPr>
      <dsp:spPr>
        <a:xfrm>
          <a:off x="0" y="0"/>
          <a:ext cx="7848600" cy="212940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CD406-8BFF-6F4A-B3E5-0EA8DADB0277}">
      <dsp:nvSpPr>
        <dsp:cNvPr id="0" name=""/>
        <dsp:cNvSpPr/>
      </dsp:nvSpPr>
      <dsp:spPr>
        <a:xfrm>
          <a:off x="235458" y="283921"/>
          <a:ext cx="2305526" cy="156156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343BA-F4AC-D54B-9E43-64669F752ECA}">
      <dsp:nvSpPr>
        <dsp:cNvPr id="0" name=""/>
        <dsp:cNvSpPr/>
      </dsp:nvSpPr>
      <dsp:spPr>
        <a:xfrm rot="10800000">
          <a:off x="235458" y="2129409"/>
          <a:ext cx="2305526" cy="2602611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Waveform and amplitude of the CBF rate are deeply modified by increasing HR</a:t>
          </a:r>
          <a:endParaRPr lang="it-IT" sz="2000" kern="1200" dirty="0"/>
        </a:p>
      </dsp:txBody>
      <dsp:txXfrm rot="10800000">
        <a:off x="306361" y="2129409"/>
        <a:ext cx="2163720" cy="2531708"/>
      </dsp:txXfrm>
    </dsp:sp>
    <dsp:sp modelId="{9065AF29-95A8-C145-BD43-44DD1D709ABE}">
      <dsp:nvSpPr>
        <dsp:cNvPr id="0" name=""/>
        <dsp:cNvSpPr/>
      </dsp:nvSpPr>
      <dsp:spPr>
        <a:xfrm>
          <a:off x="2771536" y="283921"/>
          <a:ext cx="2305526" cy="156156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rcRect/>
          <a:stretch>
            <a:fillRect t="-1000" b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6C266C-A075-6047-9998-732A5C25409C}">
      <dsp:nvSpPr>
        <dsp:cNvPr id="0" name=""/>
        <dsp:cNvSpPr/>
      </dsp:nvSpPr>
      <dsp:spPr>
        <a:xfrm rot="10800000">
          <a:off x="2771536" y="2129409"/>
          <a:ext cx="2305526" cy="2602611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Higher HR during AF cause a general alteration of CBF and imbalance of the myocardial oxygen supply-demand ratio</a:t>
          </a:r>
          <a:endParaRPr lang="it-IT" sz="1800" kern="1200" dirty="0"/>
        </a:p>
      </dsp:txBody>
      <dsp:txXfrm rot="10800000">
        <a:off x="2842439" y="2129409"/>
        <a:ext cx="2163720" cy="2531708"/>
      </dsp:txXfrm>
    </dsp:sp>
    <dsp:sp modelId="{99C5999D-4F31-B848-901A-ED8346DD9525}">
      <dsp:nvSpPr>
        <dsp:cNvPr id="0" name=""/>
        <dsp:cNvSpPr/>
      </dsp:nvSpPr>
      <dsp:spPr>
        <a:xfrm>
          <a:off x="5307615" y="283921"/>
          <a:ext cx="2305526" cy="156156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rcRect/>
          <a:stretch>
            <a:fillRect t="-6000" b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6EE16-8315-0045-B899-0648711770EE}">
      <dsp:nvSpPr>
        <dsp:cNvPr id="0" name=""/>
        <dsp:cNvSpPr/>
      </dsp:nvSpPr>
      <dsp:spPr>
        <a:xfrm rot="10800000">
          <a:off x="5307615" y="2129409"/>
          <a:ext cx="2305526" cy="2602611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CPP is no longer a good index to approximate the CBF for HR higher than 90 bpm</a:t>
          </a:r>
          <a:endParaRPr lang="it-IT" sz="2000" kern="1200" dirty="0"/>
        </a:p>
      </dsp:txBody>
      <dsp:txXfrm rot="10800000">
        <a:off x="5378518" y="2129409"/>
        <a:ext cx="2163720" cy="25317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645621-7BD2-4A4C-ABCD-16846B2D0139}">
      <dsp:nvSpPr>
        <dsp:cNvPr id="0" name=""/>
        <dsp:cNvSpPr/>
      </dsp:nvSpPr>
      <dsp:spPr>
        <a:xfrm>
          <a:off x="0" y="0"/>
          <a:ext cx="6522720" cy="995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+mn-lt"/>
            </a:rPr>
            <a:t>AF can significantly impact coronary hemodynamics</a:t>
          </a:r>
        </a:p>
      </dsp:txBody>
      <dsp:txXfrm>
        <a:off x="29165" y="29165"/>
        <a:ext cx="5364051" cy="937451"/>
      </dsp:txXfrm>
    </dsp:sp>
    <dsp:sp modelId="{04AA0550-80C8-C94A-B7E4-CDAE1B5E42D0}">
      <dsp:nvSpPr>
        <dsp:cNvPr id="0" name=""/>
        <dsp:cNvSpPr/>
      </dsp:nvSpPr>
      <dsp:spPr>
        <a:xfrm>
          <a:off x="546277" y="1176832"/>
          <a:ext cx="6522720" cy="995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main limitations of the </a:t>
          </a:r>
          <a:r>
            <a:rPr lang="en-US" sz="1800" kern="1200" dirty="0" err="1"/>
            <a:t>Mynard’s</a:t>
          </a:r>
          <a:r>
            <a:rPr lang="en-US" sz="1800" kern="1200" dirty="0"/>
            <a:t> model are related to simplifying assumptions</a:t>
          </a:r>
          <a:r>
            <a:rPr lang="en-US" sz="1100" kern="1200" dirty="0"/>
            <a:t>.</a:t>
          </a:r>
          <a:r>
            <a:rPr lang="it-IT" sz="1100" kern="1200" dirty="0"/>
            <a:t>  </a:t>
          </a:r>
          <a:endParaRPr lang="en-US" sz="1100" kern="1200" dirty="0"/>
        </a:p>
      </dsp:txBody>
      <dsp:txXfrm>
        <a:off x="575442" y="1205997"/>
        <a:ext cx="5270854" cy="937451"/>
      </dsp:txXfrm>
    </dsp:sp>
    <dsp:sp modelId="{03EFF31A-61DC-954E-B8EF-6F8557788C70}">
      <dsp:nvSpPr>
        <dsp:cNvPr id="0" name=""/>
        <dsp:cNvSpPr/>
      </dsp:nvSpPr>
      <dsp:spPr>
        <a:xfrm>
          <a:off x="1084402" y="2353665"/>
          <a:ext cx="6522720" cy="995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0" i="0" kern="1200" dirty="0"/>
            <a:t>The </a:t>
          </a:r>
          <a:r>
            <a:rPr lang="it-IT" sz="1800" b="0" i="0" kern="1200" dirty="0" err="1"/>
            <a:t>limitations</a:t>
          </a:r>
          <a:r>
            <a:rPr lang="it-IT" sz="1800" b="0" i="0" kern="1200" dirty="0"/>
            <a:t> of the </a:t>
          </a:r>
          <a:r>
            <a:rPr lang="it-IT" sz="1800" b="0" i="0" kern="1200" dirty="0" err="1"/>
            <a:t>Scarsoglio</a:t>
          </a:r>
          <a:r>
            <a:rPr lang="it-IT" sz="1800" b="0" i="0" kern="1200" dirty="0"/>
            <a:t> model </a:t>
          </a:r>
          <a:r>
            <a:rPr lang="it-IT" sz="1800" b="0" i="0" kern="1200" dirty="0" err="1"/>
            <a:t>have</a:t>
          </a:r>
          <a:r>
            <a:rPr lang="it-IT" sz="1800" b="0" i="0" kern="1200" dirty="0"/>
            <a:t> been </a:t>
          </a:r>
          <a:r>
            <a:rPr lang="it-IT" sz="1800" b="0" i="0" kern="1200" dirty="0" err="1"/>
            <a:t>surpassed</a:t>
          </a:r>
          <a:r>
            <a:rPr lang="it-IT" sz="1800" b="0" i="0" kern="1200" dirty="0"/>
            <a:t> by the </a:t>
          </a:r>
          <a:r>
            <a:rPr lang="it-IT" sz="1800" b="0" i="0" kern="1200" dirty="0" err="1"/>
            <a:t>Saglietto</a:t>
          </a:r>
          <a:r>
            <a:rPr lang="it-IT" sz="1800" b="0" i="0" kern="1200" dirty="0"/>
            <a:t> model. </a:t>
          </a:r>
          <a:endParaRPr lang="en-US" sz="1800" kern="1200" dirty="0"/>
        </a:p>
      </dsp:txBody>
      <dsp:txXfrm>
        <a:off x="1113567" y="2382830"/>
        <a:ext cx="5279007" cy="937451"/>
      </dsp:txXfrm>
    </dsp:sp>
    <dsp:sp modelId="{3A35518F-C7BF-B144-B229-6389A07EA901}">
      <dsp:nvSpPr>
        <dsp:cNvPr id="0" name=""/>
        <dsp:cNvSpPr/>
      </dsp:nvSpPr>
      <dsp:spPr>
        <a:xfrm>
          <a:off x="1630679" y="3530498"/>
          <a:ext cx="6522720" cy="995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Computational modeling can provide valuable insights for clinical practice and guide further in vivo investigations. </a:t>
          </a:r>
        </a:p>
      </dsp:txBody>
      <dsp:txXfrm>
        <a:off x="1659844" y="3559663"/>
        <a:ext cx="5270854" cy="937451"/>
      </dsp:txXfrm>
    </dsp:sp>
    <dsp:sp modelId="{370228B4-845A-C140-B376-D11E1AAF7C75}">
      <dsp:nvSpPr>
        <dsp:cNvPr id="0" name=""/>
        <dsp:cNvSpPr/>
      </dsp:nvSpPr>
      <dsp:spPr>
        <a:xfrm>
          <a:off x="5875461" y="762678"/>
          <a:ext cx="647258" cy="647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6021094" y="762678"/>
        <a:ext cx="355992" cy="487062"/>
      </dsp:txXfrm>
    </dsp:sp>
    <dsp:sp modelId="{5FB91B3B-F7D5-3E4F-9871-87EF046AE3C1}">
      <dsp:nvSpPr>
        <dsp:cNvPr id="0" name=""/>
        <dsp:cNvSpPr/>
      </dsp:nvSpPr>
      <dsp:spPr>
        <a:xfrm>
          <a:off x="6421739" y="1939510"/>
          <a:ext cx="647258" cy="647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6567372" y="1939510"/>
        <a:ext cx="355992" cy="487062"/>
      </dsp:txXfrm>
    </dsp:sp>
    <dsp:sp modelId="{03E4EA37-7141-D646-A119-B4CB6A96DEB0}">
      <dsp:nvSpPr>
        <dsp:cNvPr id="0" name=""/>
        <dsp:cNvSpPr/>
      </dsp:nvSpPr>
      <dsp:spPr>
        <a:xfrm>
          <a:off x="6959864" y="3116343"/>
          <a:ext cx="647258" cy="647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7105497" y="3116343"/>
        <a:ext cx="355992" cy="487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00DC6-18A9-1D48-8220-9984D784C9C0}" type="datetimeFigureOut">
              <a:rPr lang="it-IT" smtClean="0"/>
              <a:t>13/09/23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EE83F-0F38-B747-8FD2-FFA8483AB2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7378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EE83F-0F38-B747-8FD2-FFA8483AB26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5455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2729" y="504190"/>
            <a:ext cx="8641080" cy="5717540"/>
          </a:xfrm>
          <a:custGeom>
            <a:avLst/>
            <a:gdLst/>
            <a:ahLst/>
            <a:cxnLst/>
            <a:rect l="l" t="t" r="r" b="b"/>
            <a:pathLst>
              <a:path w="8641080" h="5717540">
                <a:moveTo>
                  <a:pt x="0" y="604138"/>
                </a:moveTo>
                <a:lnTo>
                  <a:pt x="2002" y="554593"/>
                </a:lnTo>
                <a:lnTo>
                  <a:pt x="7907" y="506151"/>
                </a:lnTo>
                <a:lnTo>
                  <a:pt x="17558" y="458966"/>
                </a:lnTo>
                <a:lnTo>
                  <a:pt x="30801" y="413195"/>
                </a:lnTo>
                <a:lnTo>
                  <a:pt x="47478" y="368992"/>
                </a:lnTo>
                <a:lnTo>
                  <a:pt x="67436" y="326514"/>
                </a:lnTo>
                <a:lnTo>
                  <a:pt x="90519" y="285916"/>
                </a:lnTo>
                <a:lnTo>
                  <a:pt x="116570" y="247354"/>
                </a:lnTo>
                <a:lnTo>
                  <a:pt x="145435" y="210983"/>
                </a:lnTo>
                <a:lnTo>
                  <a:pt x="176958" y="176958"/>
                </a:lnTo>
                <a:lnTo>
                  <a:pt x="210984" y="145436"/>
                </a:lnTo>
                <a:lnTo>
                  <a:pt x="247357" y="116571"/>
                </a:lnTo>
                <a:lnTo>
                  <a:pt x="285921" y="90520"/>
                </a:lnTo>
                <a:lnTo>
                  <a:pt x="326522" y="67438"/>
                </a:lnTo>
                <a:lnTo>
                  <a:pt x="369003" y="47480"/>
                </a:lnTo>
                <a:lnTo>
                  <a:pt x="413209" y="30802"/>
                </a:lnTo>
                <a:lnTo>
                  <a:pt x="458985" y="17559"/>
                </a:lnTo>
                <a:lnTo>
                  <a:pt x="506175" y="7907"/>
                </a:lnTo>
                <a:lnTo>
                  <a:pt x="554624" y="2002"/>
                </a:lnTo>
                <a:lnTo>
                  <a:pt x="604177" y="0"/>
                </a:lnTo>
                <a:lnTo>
                  <a:pt x="8036941" y="0"/>
                </a:lnTo>
                <a:lnTo>
                  <a:pt x="8086486" y="2002"/>
                </a:lnTo>
                <a:lnTo>
                  <a:pt x="8134928" y="7907"/>
                </a:lnTo>
                <a:lnTo>
                  <a:pt x="8182113" y="17559"/>
                </a:lnTo>
                <a:lnTo>
                  <a:pt x="8227884" y="30802"/>
                </a:lnTo>
                <a:lnTo>
                  <a:pt x="8272087" y="47480"/>
                </a:lnTo>
                <a:lnTo>
                  <a:pt x="8314565" y="67438"/>
                </a:lnTo>
                <a:lnTo>
                  <a:pt x="8355163" y="90520"/>
                </a:lnTo>
                <a:lnTo>
                  <a:pt x="8393725" y="116571"/>
                </a:lnTo>
                <a:lnTo>
                  <a:pt x="8430096" y="145436"/>
                </a:lnTo>
                <a:lnTo>
                  <a:pt x="8464121" y="176958"/>
                </a:lnTo>
                <a:lnTo>
                  <a:pt x="8495643" y="210983"/>
                </a:lnTo>
                <a:lnTo>
                  <a:pt x="8524508" y="247354"/>
                </a:lnTo>
                <a:lnTo>
                  <a:pt x="8550559" y="285916"/>
                </a:lnTo>
                <a:lnTo>
                  <a:pt x="8573641" y="326514"/>
                </a:lnTo>
                <a:lnTo>
                  <a:pt x="8593599" y="368992"/>
                </a:lnTo>
                <a:lnTo>
                  <a:pt x="8610277" y="413195"/>
                </a:lnTo>
                <a:lnTo>
                  <a:pt x="8623520" y="458966"/>
                </a:lnTo>
                <a:lnTo>
                  <a:pt x="8633172" y="506151"/>
                </a:lnTo>
                <a:lnTo>
                  <a:pt x="8639077" y="554593"/>
                </a:lnTo>
                <a:lnTo>
                  <a:pt x="8641080" y="604138"/>
                </a:lnTo>
                <a:lnTo>
                  <a:pt x="8641080" y="5113362"/>
                </a:lnTo>
                <a:lnTo>
                  <a:pt x="8639077" y="5162915"/>
                </a:lnTo>
                <a:lnTo>
                  <a:pt x="8633172" y="5211364"/>
                </a:lnTo>
                <a:lnTo>
                  <a:pt x="8623520" y="5258554"/>
                </a:lnTo>
                <a:lnTo>
                  <a:pt x="8610277" y="5304330"/>
                </a:lnTo>
                <a:lnTo>
                  <a:pt x="8593599" y="5348536"/>
                </a:lnTo>
                <a:lnTo>
                  <a:pt x="8573641" y="5391017"/>
                </a:lnTo>
                <a:lnTo>
                  <a:pt x="8550559" y="5431618"/>
                </a:lnTo>
                <a:lnTo>
                  <a:pt x="8524508" y="5470182"/>
                </a:lnTo>
                <a:lnTo>
                  <a:pt x="8495643" y="5506555"/>
                </a:lnTo>
                <a:lnTo>
                  <a:pt x="8464121" y="5540581"/>
                </a:lnTo>
                <a:lnTo>
                  <a:pt x="8430096" y="5572104"/>
                </a:lnTo>
                <a:lnTo>
                  <a:pt x="8393725" y="5600969"/>
                </a:lnTo>
                <a:lnTo>
                  <a:pt x="8355163" y="5627020"/>
                </a:lnTo>
                <a:lnTo>
                  <a:pt x="8314565" y="5650103"/>
                </a:lnTo>
                <a:lnTo>
                  <a:pt x="8272087" y="5670061"/>
                </a:lnTo>
                <a:lnTo>
                  <a:pt x="8227884" y="5686738"/>
                </a:lnTo>
                <a:lnTo>
                  <a:pt x="8182113" y="5699981"/>
                </a:lnTo>
                <a:lnTo>
                  <a:pt x="8134928" y="5709632"/>
                </a:lnTo>
                <a:lnTo>
                  <a:pt x="8086486" y="5715537"/>
                </a:lnTo>
                <a:lnTo>
                  <a:pt x="8036941" y="5717540"/>
                </a:lnTo>
                <a:lnTo>
                  <a:pt x="604177" y="5717540"/>
                </a:lnTo>
                <a:lnTo>
                  <a:pt x="554624" y="5715537"/>
                </a:lnTo>
                <a:lnTo>
                  <a:pt x="506175" y="5709632"/>
                </a:lnTo>
                <a:lnTo>
                  <a:pt x="458985" y="5699981"/>
                </a:lnTo>
                <a:lnTo>
                  <a:pt x="413209" y="5686738"/>
                </a:lnTo>
                <a:lnTo>
                  <a:pt x="369003" y="5670061"/>
                </a:lnTo>
                <a:lnTo>
                  <a:pt x="326522" y="5650103"/>
                </a:lnTo>
                <a:lnTo>
                  <a:pt x="285921" y="5627020"/>
                </a:lnTo>
                <a:lnTo>
                  <a:pt x="247357" y="5600969"/>
                </a:lnTo>
                <a:lnTo>
                  <a:pt x="210984" y="5572104"/>
                </a:lnTo>
                <a:lnTo>
                  <a:pt x="176958" y="5540581"/>
                </a:lnTo>
                <a:lnTo>
                  <a:pt x="145435" y="5506555"/>
                </a:lnTo>
                <a:lnTo>
                  <a:pt x="116570" y="5470182"/>
                </a:lnTo>
                <a:lnTo>
                  <a:pt x="90519" y="5431618"/>
                </a:lnTo>
                <a:lnTo>
                  <a:pt x="67436" y="5391017"/>
                </a:lnTo>
                <a:lnTo>
                  <a:pt x="47478" y="5348536"/>
                </a:lnTo>
                <a:lnTo>
                  <a:pt x="30801" y="5304330"/>
                </a:lnTo>
                <a:lnTo>
                  <a:pt x="17558" y="5258554"/>
                </a:lnTo>
                <a:lnTo>
                  <a:pt x="7907" y="5211364"/>
                </a:lnTo>
                <a:lnTo>
                  <a:pt x="2002" y="5162915"/>
                </a:lnTo>
                <a:lnTo>
                  <a:pt x="0" y="5113362"/>
                </a:lnTo>
                <a:lnTo>
                  <a:pt x="0" y="604138"/>
                </a:lnTo>
                <a:close/>
              </a:path>
            </a:pathLst>
          </a:custGeom>
          <a:ln w="38100">
            <a:solidFill>
              <a:srgbClr val="001F51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51459" y="6220459"/>
            <a:ext cx="2921000" cy="637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2729" y="504190"/>
            <a:ext cx="8641080" cy="5717540"/>
          </a:xfrm>
          <a:custGeom>
            <a:avLst/>
            <a:gdLst/>
            <a:ahLst/>
            <a:cxnLst/>
            <a:rect l="l" t="t" r="r" b="b"/>
            <a:pathLst>
              <a:path w="8641080" h="5717540">
                <a:moveTo>
                  <a:pt x="0" y="604138"/>
                </a:moveTo>
                <a:lnTo>
                  <a:pt x="2002" y="554593"/>
                </a:lnTo>
                <a:lnTo>
                  <a:pt x="7907" y="506151"/>
                </a:lnTo>
                <a:lnTo>
                  <a:pt x="17558" y="458966"/>
                </a:lnTo>
                <a:lnTo>
                  <a:pt x="30801" y="413195"/>
                </a:lnTo>
                <a:lnTo>
                  <a:pt x="47478" y="368992"/>
                </a:lnTo>
                <a:lnTo>
                  <a:pt x="67436" y="326514"/>
                </a:lnTo>
                <a:lnTo>
                  <a:pt x="90519" y="285916"/>
                </a:lnTo>
                <a:lnTo>
                  <a:pt x="116570" y="247354"/>
                </a:lnTo>
                <a:lnTo>
                  <a:pt x="145435" y="210983"/>
                </a:lnTo>
                <a:lnTo>
                  <a:pt x="176958" y="176958"/>
                </a:lnTo>
                <a:lnTo>
                  <a:pt x="210984" y="145436"/>
                </a:lnTo>
                <a:lnTo>
                  <a:pt x="247357" y="116571"/>
                </a:lnTo>
                <a:lnTo>
                  <a:pt x="285921" y="90520"/>
                </a:lnTo>
                <a:lnTo>
                  <a:pt x="326522" y="67438"/>
                </a:lnTo>
                <a:lnTo>
                  <a:pt x="369003" y="47480"/>
                </a:lnTo>
                <a:lnTo>
                  <a:pt x="413209" y="30802"/>
                </a:lnTo>
                <a:lnTo>
                  <a:pt x="458985" y="17559"/>
                </a:lnTo>
                <a:lnTo>
                  <a:pt x="506175" y="7907"/>
                </a:lnTo>
                <a:lnTo>
                  <a:pt x="554624" y="2002"/>
                </a:lnTo>
                <a:lnTo>
                  <a:pt x="604177" y="0"/>
                </a:lnTo>
                <a:lnTo>
                  <a:pt x="8036941" y="0"/>
                </a:lnTo>
                <a:lnTo>
                  <a:pt x="8086486" y="2002"/>
                </a:lnTo>
                <a:lnTo>
                  <a:pt x="8134928" y="7907"/>
                </a:lnTo>
                <a:lnTo>
                  <a:pt x="8182113" y="17559"/>
                </a:lnTo>
                <a:lnTo>
                  <a:pt x="8227884" y="30802"/>
                </a:lnTo>
                <a:lnTo>
                  <a:pt x="8272087" y="47480"/>
                </a:lnTo>
                <a:lnTo>
                  <a:pt x="8314565" y="67438"/>
                </a:lnTo>
                <a:lnTo>
                  <a:pt x="8355163" y="90520"/>
                </a:lnTo>
                <a:lnTo>
                  <a:pt x="8393725" y="116571"/>
                </a:lnTo>
                <a:lnTo>
                  <a:pt x="8430096" y="145436"/>
                </a:lnTo>
                <a:lnTo>
                  <a:pt x="8464121" y="176958"/>
                </a:lnTo>
                <a:lnTo>
                  <a:pt x="8495643" y="210983"/>
                </a:lnTo>
                <a:lnTo>
                  <a:pt x="8524508" y="247354"/>
                </a:lnTo>
                <a:lnTo>
                  <a:pt x="8550559" y="285916"/>
                </a:lnTo>
                <a:lnTo>
                  <a:pt x="8573641" y="326514"/>
                </a:lnTo>
                <a:lnTo>
                  <a:pt x="8593599" y="368992"/>
                </a:lnTo>
                <a:lnTo>
                  <a:pt x="8610277" y="413195"/>
                </a:lnTo>
                <a:lnTo>
                  <a:pt x="8623520" y="458966"/>
                </a:lnTo>
                <a:lnTo>
                  <a:pt x="8633172" y="506151"/>
                </a:lnTo>
                <a:lnTo>
                  <a:pt x="8639077" y="554593"/>
                </a:lnTo>
                <a:lnTo>
                  <a:pt x="8641080" y="604138"/>
                </a:lnTo>
                <a:lnTo>
                  <a:pt x="8641080" y="5113362"/>
                </a:lnTo>
                <a:lnTo>
                  <a:pt x="8639077" y="5162915"/>
                </a:lnTo>
                <a:lnTo>
                  <a:pt x="8633172" y="5211364"/>
                </a:lnTo>
                <a:lnTo>
                  <a:pt x="8623520" y="5258554"/>
                </a:lnTo>
                <a:lnTo>
                  <a:pt x="8610277" y="5304330"/>
                </a:lnTo>
                <a:lnTo>
                  <a:pt x="8593599" y="5348536"/>
                </a:lnTo>
                <a:lnTo>
                  <a:pt x="8573641" y="5391017"/>
                </a:lnTo>
                <a:lnTo>
                  <a:pt x="8550559" y="5431618"/>
                </a:lnTo>
                <a:lnTo>
                  <a:pt x="8524508" y="5470182"/>
                </a:lnTo>
                <a:lnTo>
                  <a:pt x="8495643" y="5506555"/>
                </a:lnTo>
                <a:lnTo>
                  <a:pt x="8464121" y="5540581"/>
                </a:lnTo>
                <a:lnTo>
                  <a:pt x="8430096" y="5572104"/>
                </a:lnTo>
                <a:lnTo>
                  <a:pt x="8393725" y="5600969"/>
                </a:lnTo>
                <a:lnTo>
                  <a:pt x="8355163" y="5627020"/>
                </a:lnTo>
                <a:lnTo>
                  <a:pt x="8314565" y="5650103"/>
                </a:lnTo>
                <a:lnTo>
                  <a:pt x="8272087" y="5670061"/>
                </a:lnTo>
                <a:lnTo>
                  <a:pt x="8227884" y="5686738"/>
                </a:lnTo>
                <a:lnTo>
                  <a:pt x="8182113" y="5699981"/>
                </a:lnTo>
                <a:lnTo>
                  <a:pt x="8134928" y="5709632"/>
                </a:lnTo>
                <a:lnTo>
                  <a:pt x="8086486" y="5715537"/>
                </a:lnTo>
                <a:lnTo>
                  <a:pt x="8036941" y="5717540"/>
                </a:lnTo>
                <a:lnTo>
                  <a:pt x="604177" y="5717540"/>
                </a:lnTo>
                <a:lnTo>
                  <a:pt x="554624" y="5715537"/>
                </a:lnTo>
                <a:lnTo>
                  <a:pt x="506175" y="5709632"/>
                </a:lnTo>
                <a:lnTo>
                  <a:pt x="458985" y="5699981"/>
                </a:lnTo>
                <a:lnTo>
                  <a:pt x="413209" y="5686738"/>
                </a:lnTo>
                <a:lnTo>
                  <a:pt x="369003" y="5670061"/>
                </a:lnTo>
                <a:lnTo>
                  <a:pt x="326522" y="5650103"/>
                </a:lnTo>
                <a:lnTo>
                  <a:pt x="285921" y="5627020"/>
                </a:lnTo>
                <a:lnTo>
                  <a:pt x="247357" y="5600969"/>
                </a:lnTo>
                <a:lnTo>
                  <a:pt x="210984" y="5572104"/>
                </a:lnTo>
                <a:lnTo>
                  <a:pt x="176958" y="5540581"/>
                </a:lnTo>
                <a:lnTo>
                  <a:pt x="145435" y="5506555"/>
                </a:lnTo>
                <a:lnTo>
                  <a:pt x="116570" y="5470182"/>
                </a:lnTo>
                <a:lnTo>
                  <a:pt x="90519" y="5431618"/>
                </a:lnTo>
                <a:lnTo>
                  <a:pt x="67436" y="5391017"/>
                </a:lnTo>
                <a:lnTo>
                  <a:pt x="47478" y="5348536"/>
                </a:lnTo>
                <a:lnTo>
                  <a:pt x="30801" y="5304330"/>
                </a:lnTo>
                <a:lnTo>
                  <a:pt x="17558" y="5258554"/>
                </a:lnTo>
                <a:lnTo>
                  <a:pt x="7907" y="5211364"/>
                </a:lnTo>
                <a:lnTo>
                  <a:pt x="2002" y="5162915"/>
                </a:lnTo>
                <a:lnTo>
                  <a:pt x="0" y="5113362"/>
                </a:lnTo>
                <a:lnTo>
                  <a:pt x="0" y="604138"/>
                </a:lnTo>
                <a:close/>
              </a:path>
            </a:pathLst>
          </a:custGeom>
          <a:ln w="38100">
            <a:solidFill>
              <a:srgbClr val="001F51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58052" y="474979"/>
            <a:ext cx="3427895" cy="508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993" y="1165859"/>
            <a:ext cx="7792013" cy="35112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74560" y="4027714"/>
            <a:ext cx="1905000" cy="2830286"/>
          </a:xfrm>
          <a:prstGeom prst="rect">
            <a:avLst/>
          </a:prstGeom>
          <a:blipFill>
            <a:blip r:embed="rId3" cstate="print"/>
            <a:stretch>
              <a:fillRect l="-8000" t="-4103" b="-1"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252729" y="504190"/>
            <a:ext cx="8641080" cy="5717540"/>
          </a:xfrm>
          <a:custGeom>
            <a:avLst/>
            <a:gdLst/>
            <a:ahLst/>
            <a:cxnLst/>
            <a:rect l="l" t="t" r="r" b="b"/>
            <a:pathLst>
              <a:path w="8641080" h="5717540">
                <a:moveTo>
                  <a:pt x="0" y="604138"/>
                </a:moveTo>
                <a:lnTo>
                  <a:pt x="2002" y="554593"/>
                </a:lnTo>
                <a:lnTo>
                  <a:pt x="7907" y="506151"/>
                </a:lnTo>
                <a:lnTo>
                  <a:pt x="17558" y="458966"/>
                </a:lnTo>
                <a:lnTo>
                  <a:pt x="30801" y="413195"/>
                </a:lnTo>
                <a:lnTo>
                  <a:pt x="47478" y="368992"/>
                </a:lnTo>
                <a:lnTo>
                  <a:pt x="67436" y="326514"/>
                </a:lnTo>
                <a:lnTo>
                  <a:pt x="90519" y="285916"/>
                </a:lnTo>
                <a:lnTo>
                  <a:pt x="116570" y="247354"/>
                </a:lnTo>
                <a:lnTo>
                  <a:pt x="145435" y="210983"/>
                </a:lnTo>
                <a:lnTo>
                  <a:pt x="176958" y="176958"/>
                </a:lnTo>
                <a:lnTo>
                  <a:pt x="210984" y="145436"/>
                </a:lnTo>
                <a:lnTo>
                  <a:pt x="247357" y="116571"/>
                </a:lnTo>
                <a:lnTo>
                  <a:pt x="285921" y="90520"/>
                </a:lnTo>
                <a:lnTo>
                  <a:pt x="326522" y="67438"/>
                </a:lnTo>
                <a:lnTo>
                  <a:pt x="369003" y="47480"/>
                </a:lnTo>
                <a:lnTo>
                  <a:pt x="413209" y="30802"/>
                </a:lnTo>
                <a:lnTo>
                  <a:pt x="458985" y="17559"/>
                </a:lnTo>
                <a:lnTo>
                  <a:pt x="506175" y="7907"/>
                </a:lnTo>
                <a:lnTo>
                  <a:pt x="554624" y="2002"/>
                </a:lnTo>
                <a:lnTo>
                  <a:pt x="604177" y="0"/>
                </a:lnTo>
                <a:lnTo>
                  <a:pt x="8036941" y="0"/>
                </a:lnTo>
                <a:lnTo>
                  <a:pt x="8086486" y="2002"/>
                </a:lnTo>
                <a:lnTo>
                  <a:pt x="8134928" y="7907"/>
                </a:lnTo>
                <a:lnTo>
                  <a:pt x="8182113" y="17559"/>
                </a:lnTo>
                <a:lnTo>
                  <a:pt x="8227884" y="30802"/>
                </a:lnTo>
                <a:lnTo>
                  <a:pt x="8272087" y="47480"/>
                </a:lnTo>
                <a:lnTo>
                  <a:pt x="8314565" y="67438"/>
                </a:lnTo>
                <a:lnTo>
                  <a:pt x="8355163" y="90520"/>
                </a:lnTo>
                <a:lnTo>
                  <a:pt x="8393725" y="116571"/>
                </a:lnTo>
                <a:lnTo>
                  <a:pt x="8430096" y="145436"/>
                </a:lnTo>
                <a:lnTo>
                  <a:pt x="8464121" y="176958"/>
                </a:lnTo>
                <a:lnTo>
                  <a:pt x="8495643" y="210983"/>
                </a:lnTo>
                <a:lnTo>
                  <a:pt x="8524508" y="247354"/>
                </a:lnTo>
                <a:lnTo>
                  <a:pt x="8550559" y="285916"/>
                </a:lnTo>
                <a:lnTo>
                  <a:pt x="8573641" y="326514"/>
                </a:lnTo>
                <a:lnTo>
                  <a:pt x="8593599" y="368992"/>
                </a:lnTo>
                <a:lnTo>
                  <a:pt x="8610277" y="413195"/>
                </a:lnTo>
                <a:lnTo>
                  <a:pt x="8623520" y="458966"/>
                </a:lnTo>
                <a:lnTo>
                  <a:pt x="8633172" y="506151"/>
                </a:lnTo>
                <a:lnTo>
                  <a:pt x="8639077" y="554593"/>
                </a:lnTo>
                <a:lnTo>
                  <a:pt x="8641080" y="604138"/>
                </a:lnTo>
                <a:lnTo>
                  <a:pt x="8641080" y="5113362"/>
                </a:lnTo>
                <a:lnTo>
                  <a:pt x="8639077" y="5162915"/>
                </a:lnTo>
                <a:lnTo>
                  <a:pt x="8633172" y="5211364"/>
                </a:lnTo>
                <a:lnTo>
                  <a:pt x="8623520" y="5258554"/>
                </a:lnTo>
                <a:lnTo>
                  <a:pt x="8610277" y="5304330"/>
                </a:lnTo>
                <a:lnTo>
                  <a:pt x="8593599" y="5348536"/>
                </a:lnTo>
                <a:lnTo>
                  <a:pt x="8573641" y="5391017"/>
                </a:lnTo>
                <a:lnTo>
                  <a:pt x="8550559" y="5431618"/>
                </a:lnTo>
                <a:lnTo>
                  <a:pt x="8524508" y="5470182"/>
                </a:lnTo>
                <a:lnTo>
                  <a:pt x="8495643" y="5506555"/>
                </a:lnTo>
                <a:lnTo>
                  <a:pt x="8464121" y="5540581"/>
                </a:lnTo>
                <a:lnTo>
                  <a:pt x="8430096" y="5572104"/>
                </a:lnTo>
                <a:lnTo>
                  <a:pt x="8393725" y="5600969"/>
                </a:lnTo>
                <a:lnTo>
                  <a:pt x="8355163" y="5627020"/>
                </a:lnTo>
                <a:lnTo>
                  <a:pt x="8314565" y="5650103"/>
                </a:lnTo>
                <a:lnTo>
                  <a:pt x="8272087" y="5670061"/>
                </a:lnTo>
                <a:lnTo>
                  <a:pt x="8227884" y="5686738"/>
                </a:lnTo>
                <a:lnTo>
                  <a:pt x="8182113" y="5699981"/>
                </a:lnTo>
                <a:lnTo>
                  <a:pt x="8134928" y="5709632"/>
                </a:lnTo>
                <a:lnTo>
                  <a:pt x="8086486" y="5715537"/>
                </a:lnTo>
                <a:lnTo>
                  <a:pt x="8036941" y="5717540"/>
                </a:lnTo>
                <a:lnTo>
                  <a:pt x="604177" y="5717540"/>
                </a:lnTo>
                <a:lnTo>
                  <a:pt x="554624" y="5715537"/>
                </a:lnTo>
                <a:lnTo>
                  <a:pt x="506175" y="5709632"/>
                </a:lnTo>
                <a:lnTo>
                  <a:pt x="458985" y="5699981"/>
                </a:lnTo>
                <a:lnTo>
                  <a:pt x="413209" y="5686738"/>
                </a:lnTo>
                <a:lnTo>
                  <a:pt x="369003" y="5670061"/>
                </a:lnTo>
                <a:lnTo>
                  <a:pt x="326522" y="5650103"/>
                </a:lnTo>
                <a:lnTo>
                  <a:pt x="285921" y="5627020"/>
                </a:lnTo>
                <a:lnTo>
                  <a:pt x="247357" y="5600969"/>
                </a:lnTo>
                <a:lnTo>
                  <a:pt x="210984" y="5572104"/>
                </a:lnTo>
                <a:lnTo>
                  <a:pt x="176958" y="5540581"/>
                </a:lnTo>
                <a:lnTo>
                  <a:pt x="145435" y="5506555"/>
                </a:lnTo>
                <a:lnTo>
                  <a:pt x="116570" y="5470182"/>
                </a:lnTo>
                <a:lnTo>
                  <a:pt x="90519" y="5431618"/>
                </a:lnTo>
                <a:lnTo>
                  <a:pt x="67436" y="5391017"/>
                </a:lnTo>
                <a:lnTo>
                  <a:pt x="47478" y="5348536"/>
                </a:lnTo>
                <a:lnTo>
                  <a:pt x="30801" y="5304330"/>
                </a:lnTo>
                <a:lnTo>
                  <a:pt x="17558" y="5258554"/>
                </a:lnTo>
                <a:lnTo>
                  <a:pt x="7907" y="5211364"/>
                </a:lnTo>
                <a:lnTo>
                  <a:pt x="2002" y="5162915"/>
                </a:lnTo>
                <a:lnTo>
                  <a:pt x="0" y="5113362"/>
                </a:lnTo>
                <a:lnTo>
                  <a:pt x="0" y="604138"/>
                </a:lnTo>
                <a:close/>
              </a:path>
            </a:pathLst>
          </a:custGeom>
          <a:ln w="38100">
            <a:solidFill>
              <a:srgbClr val="001F51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405" y="4236227"/>
            <a:ext cx="2816543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dirty="0">
                <a:solidFill>
                  <a:schemeClr val="accent1">
                    <a:lumMod val="50000"/>
                  </a:schemeClr>
                </a:solidFill>
                <a:cs typeface="Calibri"/>
              </a:rPr>
              <a:t>Virginia Clemente</a:t>
            </a:r>
          </a:p>
          <a:p>
            <a:pPr>
              <a:lnSpc>
                <a:spcPct val="100000"/>
              </a:lnSpc>
            </a:pPr>
            <a:r>
              <a:rPr lang="it-IT" dirty="0" err="1">
                <a:solidFill>
                  <a:schemeClr val="accent1">
                    <a:lumMod val="50000"/>
                  </a:schemeClr>
                </a:solidFill>
                <a:cs typeface="Calibri"/>
              </a:rPr>
              <a:t>Mat</a:t>
            </a:r>
            <a:r>
              <a:rPr lang="it-IT" dirty="0">
                <a:solidFill>
                  <a:schemeClr val="accent1">
                    <a:lumMod val="50000"/>
                  </a:schemeClr>
                </a:solidFill>
                <a:cs typeface="Calibri"/>
              </a:rPr>
              <a:t>. INLM01/16855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0095A257-B235-47A0-A62C-E4297F0772EA}"/>
              </a:ext>
            </a:extLst>
          </p:cNvPr>
          <p:cNvSpPr txBox="1"/>
          <p:nvPr/>
        </p:nvSpPr>
        <p:spPr>
          <a:xfrm>
            <a:off x="577405" y="2139376"/>
            <a:ext cx="7989189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Models to study the effect of atrial fibrillation on coronary circulation</a:t>
            </a:r>
            <a:endParaRPr lang="en-US" sz="4000" b="1" i="1" dirty="0">
              <a:solidFill>
                <a:schemeClr val="accent1">
                  <a:lumMod val="50000"/>
                </a:schemeClr>
              </a:solidFill>
              <a:latin typeface="Bierstad"/>
              <a:cs typeface="Calibri Light"/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1485899" y="781189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 err="1">
                <a:solidFill>
                  <a:schemeClr val="accent1">
                    <a:lumMod val="50000"/>
                  </a:schemeClr>
                </a:solidFill>
              </a:rPr>
              <a:t>Mechanics</a:t>
            </a:r>
            <a:r>
              <a:rPr lang="it-IT" i="1" dirty="0">
                <a:solidFill>
                  <a:schemeClr val="accent1">
                    <a:lumMod val="50000"/>
                  </a:schemeClr>
                </a:solidFill>
              </a:rPr>
              <a:t> of </a:t>
            </a:r>
            <a:r>
              <a:rPr lang="it-IT" i="1" dirty="0" err="1">
                <a:solidFill>
                  <a:schemeClr val="accent1">
                    <a:lumMod val="50000"/>
                  </a:schemeClr>
                </a:solidFill>
              </a:rPr>
              <a:t>Biological</a:t>
            </a:r>
            <a:r>
              <a:rPr lang="it-IT" i="1" dirty="0">
                <a:solidFill>
                  <a:schemeClr val="accent1">
                    <a:lumMod val="50000"/>
                  </a:schemeClr>
                </a:solidFill>
              </a:rPr>
              <a:t> Systems [2022-2023]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7C21C17-BC01-1E46-7C30-BF409BFCBBE8}"/>
              </a:ext>
            </a:extLst>
          </p:cNvPr>
          <p:cNvSpPr txBox="1"/>
          <p:nvPr/>
        </p:nvSpPr>
        <p:spPr>
          <a:xfrm>
            <a:off x="3276600" y="533400"/>
            <a:ext cx="259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1" i="1" dirty="0">
                <a:solidFill>
                  <a:schemeClr val="accent1">
                    <a:lumMod val="50000"/>
                  </a:schemeClr>
                </a:solidFill>
              </a:rPr>
              <a:t>Summury</a:t>
            </a:r>
            <a:endParaRPr lang="it-IT" sz="3200" dirty="0"/>
          </a:p>
        </p:txBody>
      </p:sp>
      <p:graphicFrame>
        <p:nvGraphicFramePr>
          <p:cNvPr id="4" name="CasellaDiTesto 3">
            <a:extLst>
              <a:ext uri="{FF2B5EF4-FFF2-40B4-BE49-F238E27FC236}">
                <a16:creationId xmlns:a16="http://schemas.microsoft.com/office/drawing/2014/main" id="{8947D117-E522-FDE5-4C10-7DEF9ABCEF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7014484"/>
              </p:ext>
            </p:extLst>
          </p:nvPr>
        </p:nvGraphicFramePr>
        <p:xfrm>
          <a:off x="457201" y="982979"/>
          <a:ext cx="8229600" cy="4960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720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BDCD3C-AD1A-7E47-C814-A0898CA70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052" y="474979"/>
            <a:ext cx="3427895" cy="508000"/>
          </a:xfrm>
        </p:spPr>
        <p:txBody>
          <a:bodyPr wrap="square" lIns="0" tIns="0" rIns="0" bIns="0">
            <a:normAutofit/>
          </a:bodyPr>
          <a:lstStyle/>
          <a:p>
            <a:pPr algn="ctr"/>
            <a:r>
              <a:rPr lang="it-IT" b="1" i="1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Calibri Light"/>
              </a:rPr>
              <a:t>Introduction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97DE99A-7006-0325-F65B-3DAD8607C5FE}"/>
              </a:ext>
            </a:extLst>
          </p:cNvPr>
          <p:cNvSpPr txBox="1"/>
          <p:nvPr/>
        </p:nvSpPr>
        <p:spPr>
          <a:xfrm>
            <a:off x="457200" y="1295400"/>
            <a:ext cx="3977640" cy="922021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just">
              <a:spcAft>
                <a:spcPts val="600"/>
              </a:spcAft>
            </a:pPr>
            <a:r>
              <a:rPr lang="en-US" dirty="0">
                <a:latin typeface="Calibri"/>
                <a:ea typeface="+mn-ea"/>
                <a:cs typeface="Calibri"/>
              </a:rPr>
              <a:t>T</a:t>
            </a:r>
            <a:r>
              <a:rPr lang="en-US" dirty="0">
                <a:effectLst/>
                <a:latin typeface="Calibri"/>
                <a:ea typeface="+mn-ea"/>
                <a:cs typeface="Calibri"/>
              </a:rPr>
              <a:t>he aim of this </a:t>
            </a:r>
            <a:r>
              <a:rPr lang="en-US" dirty="0">
                <a:latin typeface="Calibri"/>
                <a:ea typeface="+mn-ea"/>
                <a:cs typeface="Calibri"/>
              </a:rPr>
              <a:t>review has</a:t>
            </a:r>
            <a:r>
              <a:rPr lang="en-US" dirty="0">
                <a:effectLst/>
                <a:latin typeface="Calibri"/>
                <a:ea typeface="+mn-ea"/>
                <a:cs typeface="Calibri"/>
              </a:rPr>
              <a:t> particular focus on the coronary circulation in the presence of </a:t>
            </a:r>
            <a:r>
              <a:rPr lang="en-US" b="1" dirty="0">
                <a:effectLst/>
                <a:latin typeface="Calibri"/>
                <a:ea typeface="+mn-ea"/>
                <a:cs typeface="Calibri"/>
              </a:rPr>
              <a:t>ATRIAL FIBRILLATION </a:t>
            </a:r>
            <a:endParaRPr lang="it-IT" b="1" dirty="0">
              <a:latin typeface="Calibri"/>
              <a:ea typeface="+mn-ea"/>
              <a:cs typeface="Calibri"/>
            </a:endParaRPr>
          </a:p>
        </p:txBody>
      </p:sp>
      <p:pic>
        <p:nvPicPr>
          <p:cNvPr id="4" name="Immagine 3" descr="Immagine che contiene schermata, calzature&#10;&#10;Descrizione generata automaticamente">
            <a:extLst>
              <a:ext uri="{FF2B5EF4-FFF2-40B4-BE49-F238E27FC236}">
                <a16:creationId xmlns:a16="http://schemas.microsoft.com/office/drawing/2014/main" id="{C8A33AED-2832-3ECB-32D8-9F9DF3CDB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529842"/>
            <a:ext cx="3657600" cy="2786742"/>
          </a:xfrm>
          <a:prstGeom prst="rect">
            <a:avLst/>
          </a:prstGeom>
        </p:spPr>
      </p:pic>
      <p:graphicFrame>
        <p:nvGraphicFramePr>
          <p:cNvPr id="5" name="CasellaDiTesto 12">
            <a:extLst>
              <a:ext uri="{FF2B5EF4-FFF2-40B4-BE49-F238E27FC236}">
                <a16:creationId xmlns:a16="http://schemas.microsoft.com/office/drawing/2014/main" id="{D202638F-B74B-095F-1D5A-ABDA7484F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9649641"/>
              </p:ext>
            </p:extLst>
          </p:nvPr>
        </p:nvGraphicFramePr>
        <p:xfrm>
          <a:off x="4571999" y="1295400"/>
          <a:ext cx="397764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9847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5" grpId="1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CF54BFFD-F873-42FF-4A07-8C5BD0347661}"/>
              </a:ext>
            </a:extLst>
          </p:cNvPr>
          <p:cNvSpPr/>
          <p:nvPr/>
        </p:nvSpPr>
        <p:spPr>
          <a:xfrm>
            <a:off x="514350" y="1235645"/>
            <a:ext cx="8115300" cy="43867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</a:t>
            </a:r>
          </a:p>
          <a:p>
            <a:pPr algn="ctr"/>
            <a:r>
              <a:rPr lang="it-IT" dirty="0"/>
              <a:t> </a:t>
            </a:r>
          </a:p>
          <a:p>
            <a:pPr algn="ctr"/>
            <a:r>
              <a:rPr lang="it-IT" dirty="0"/>
              <a:t> </a:t>
            </a:r>
          </a:p>
          <a:p>
            <a:pPr algn="ctr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7F42762-D332-D3D4-EF5A-05B8BC5096E0}"/>
              </a:ext>
            </a:extLst>
          </p:cNvPr>
          <p:cNvSpPr txBox="1"/>
          <p:nvPr/>
        </p:nvSpPr>
        <p:spPr>
          <a:xfrm>
            <a:off x="838200" y="1261628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chemeClr val="accent1">
                    <a:lumMod val="50000"/>
                  </a:schemeClr>
                </a:solidFill>
              </a:rPr>
              <a:t>1D Model of </a:t>
            </a: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</a:rPr>
              <a:t>Coronary</a:t>
            </a:r>
            <a:r>
              <a:rPr lang="it-IT" b="1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</a:rPr>
              <a:t>Arteries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1F42501-39C5-B715-0E66-A8F9FC02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33400"/>
            <a:ext cx="8001000" cy="430887"/>
          </a:xfrm>
        </p:spPr>
        <p:txBody>
          <a:bodyPr/>
          <a:lstStyle/>
          <a:p>
            <a:pPr algn="ctr"/>
            <a:r>
              <a:rPr lang="it-IT" sz="2800" b="1" i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1D – 0D Model of </a:t>
            </a:r>
            <a:r>
              <a:rPr lang="it-IT" sz="2800" b="1" i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Coronary</a:t>
            </a:r>
            <a:r>
              <a:rPr lang="it-IT" sz="2800" b="1" i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it-IT" sz="2800" b="1" i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Circulation</a:t>
            </a:r>
            <a:endParaRPr lang="it-IT" sz="2800" dirty="0">
              <a:latin typeface="+mn-lt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62A2D12E-8FB5-D50C-CD5B-92145A6F1A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803" t="-1" r="32394" b="11875"/>
          <a:stretch/>
        </p:blipFill>
        <p:spPr>
          <a:xfrm>
            <a:off x="1523998" y="4217596"/>
            <a:ext cx="1752600" cy="530915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0886CC87-F59A-2759-9608-249B1C6012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352" r="26056"/>
          <a:stretch/>
        </p:blipFill>
        <p:spPr>
          <a:xfrm>
            <a:off x="1011569" y="4813016"/>
            <a:ext cx="2777457" cy="684301"/>
          </a:xfrm>
          <a:prstGeom prst="rect">
            <a:avLst/>
          </a:prstGeom>
        </p:spPr>
      </p:pic>
      <p:sp>
        <p:nvSpPr>
          <p:cNvPr id="19" name="Freccia giù 18">
            <a:extLst>
              <a:ext uri="{FF2B5EF4-FFF2-40B4-BE49-F238E27FC236}">
                <a16:creationId xmlns:a16="http://schemas.microsoft.com/office/drawing/2014/main" id="{94213D7F-70C7-9ED5-537E-5BA559075174}"/>
              </a:ext>
            </a:extLst>
          </p:cNvPr>
          <p:cNvSpPr/>
          <p:nvPr/>
        </p:nvSpPr>
        <p:spPr>
          <a:xfrm>
            <a:off x="1866900" y="1681168"/>
            <a:ext cx="1066800" cy="742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79C369F-96E6-505F-21F2-A80072E439EF}"/>
              </a:ext>
            </a:extLst>
          </p:cNvPr>
          <p:cNvSpPr txBox="1"/>
          <p:nvPr/>
        </p:nvSpPr>
        <p:spPr>
          <a:xfrm>
            <a:off x="723900" y="2526716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 err="1"/>
              <a:t>Similarity</a:t>
            </a:r>
            <a:r>
              <a:rPr lang="it-IT" sz="1600" i="1" dirty="0"/>
              <a:t> </a:t>
            </a:r>
            <a:r>
              <a:rPr lang="it-IT" sz="1600" i="1" dirty="0" err="1"/>
              <a:t>between</a:t>
            </a:r>
            <a:r>
              <a:rPr lang="it-IT" sz="1600" i="1" dirty="0"/>
              <a:t> left </a:t>
            </a:r>
            <a:r>
              <a:rPr lang="it-IT" sz="1600" i="1" dirty="0" err="1"/>
              <a:t>dominant</a:t>
            </a:r>
            <a:r>
              <a:rPr lang="it-IT" sz="1600" i="1" dirty="0"/>
              <a:t> </a:t>
            </a:r>
            <a:r>
              <a:rPr lang="it-IT" sz="1600" i="1" dirty="0" err="1"/>
              <a:t>anatomies</a:t>
            </a:r>
            <a:r>
              <a:rPr lang="it-IT" sz="1600" i="1" dirty="0"/>
              <a:t> in human and </a:t>
            </a:r>
            <a:r>
              <a:rPr lang="it-IT" sz="1600" i="1" dirty="0" err="1"/>
              <a:t>sheeps</a:t>
            </a:r>
            <a:r>
              <a:rPr lang="it-IT" sz="1600" i="1" dirty="0"/>
              <a:t> </a:t>
            </a:r>
          </a:p>
        </p:txBody>
      </p:sp>
      <p:sp>
        <p:nvSpPr>
          <p:cNvPr id="22" name="Freccia giù 21">
            <a:extLst>
              <a:ext uri="{FF2B5EF4-FFF2-40B4-BE49-F238E27FC236}">
                <a16:creationId xmlns:a16="http://schemas.microsoft.com/office/drawing/2014/main" id="{50527AC9-A1FE-38CF-6FFC-C13AFD9DE4B0}"/>
              </a:ext>
            </a:extLst>
          </p:cNvPr>
          <p:cNvSpPr/>
          <p:nvPr/>
        </p:nvSpPr>
        <p:spPr>
          <a:xfrm>
            <a:off x="2171700" y="3181240"/>
            <a:ext cx="457200" cy="584775"/>
          </a:xfrm>
          <a:prstGeom prst="downArrow">
            <a:avLst>
              <a:gd name="adj1" fmla="val 50000"/>
              <a:gd name="adj2" fmla="val 46791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F007EE45-C282-D1F4-0F04-3E9F3C791BAF}"/>
              </a:ext>
            </a:extLst>
          </p:cNvPr>
          <p:cNvSpPr txBox="1"/>
          <p:nvPr/>
        </p:nvSpPr>
        <p:spPr>
          <a:xfrm>
            <a:off x="895349" y="3849724"/>
            <a:ext cx="3009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/>
              <a:t>1D EQUATIONS:</a:t>
            </a:r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8200221C-EA27-570B-4751-0B82E5747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245" y="1594684"/>
            <a:ext cx="3526955" cy="2087241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  <a:softEdge rad="125845"/>
          </a:effectLst>
        </p:spPr>
      </p:pic>
      <p:sp>
        <p:nvSpPr>
          <p:cNvPr id="32" name="Freccia giù 31">
            <a:extLst>
              <a:ext uri="{FF2B5EF4-FFF2-40B4-BE49-F238E27FC236}">
                <a16:creationId xmlns:a16="http://schemas.microsoft.com/office/drawing/2014/main" id="{4E7CC88B-2BDE-B628-2A24-1AF6DA207908}"/>
              </a:ext>
            </a:extLst>
          </p:cNvPr>
          <p:cNvSpPr/>
          <p:nvPr/>
        </p:nvSpPr>
        <p:spPr>
          <a:xfrm rot="16200000">
            <a:off x="4202833" y="4456123"/>
            <a:ext cx="457200" cy="584775"/>
          </a:xfrm>
          <a:prstGeom prst="downArrow">
            <a:avLst>
              <a:gd name="adj1" fmla="val 50000"/>
              <a:gd name="adj2" fmla="val 46791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3" name="Immagine 32" descr="Immagine che contiene Carattere, testo, calligrafia, bianco&#10;&#10;Descrizione generata automaticamente">
            <a:extLst>
              <a:ext uri="{FF2B5EF4-FFF2-40B4-BE49-F238E27FC236}">
                <a16:creationId xmlns:a16="http://schemas.microsoft.com/office/drawing/2014/main" id="{3916A81D-AACE-0760-693F-ACA235668C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852" t="2780" r="13204"/>
          <a:stretch/>
        </p:blipFill>
        <p:spPr>
          <a:xfrm>
            <a:off x="5007714" y="4122659"/>
            <a:ext cx="3143902" cy="625851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AE93D0F2-5216-AA6A-927C-5A55E501272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6761" t="4232" r="28873" b="1"/>
          <a:stretch/>
        </p:blipFill>
        <p:spPr>
          <a:xfrm>
            <a:off x="5354976" y="4861224"/>
            <a:ext cx="2449379" cy="57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5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/>
      <p:bldP spid="2" grpId="0"/>
      <p:bldP spid="19" grpId="0" animBg="1"/>
      <p:bldP spid="20" grpId="0"/>
      <p:bldP spid="22" grpId="0" animBg="1"/>
      <p:bldP spid="23" grpId="0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473EDA89-547E-0675-83E2-ADF5B713C37D}"/>
              </a:ext>
            </a:extLst>
          </p:cNvPr>
          <p:cNvSpPr/>
          <p:nvPr/>
        </p:nvSpPr>
        <p:spPr>
          <a:xfrm>
            <a:off x="514350" y="1165363"/>
            <a:ext cx="8115300" cy="43867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 </a:t>
            </a:r>
          </a:p>
          <a:p>
            <a:pPr algn="ctr"/>
            <a:r>
              <a:rPr lang="it-IT" dirty="0"/>
              <a:t> </a:t>
            </a:r>
          </a:p>
          <a:p>
            <a:pPr algn="ctr"/>
            <a:r>
              <a:rPr lang="it-IT" dirty="0"/>
              <a:t> </a:t>
            </a:r>
          </a:p>
          <a:p>
            <a:pPr algn="ctr"/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F725C29-4D78-4467-DF11-CD08139B6F1A}"/>
              </a:ext>
            </a:extLst>
          </p:cNvPr>
          <p:cNvSpPr txBox="1"/>
          <p:nvPr/>
        </p:nvSpPr>
        <p:spPr>
          <a:xfrm>
            <a:off x="800100" y="1219200"/>
            <a:ext cx="712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i="1" dirty="0">
                <a:solidFill>
                  <a:schemeClr val="accent1">
                    <a:lumMod val="50000"/>
                  </a:schemeClr>
                </a:solidFill>
              </a:rPr>
              <a:t>0D Model of </a:t>
            </a: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</a:rPr>
              <a:t>intramyocardial</a:t>
            </a:r>
            <a:r>
              <a:rPr lang="it-IT" b="1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</a:rPr>
              <a:t>microvascular</a:t>
            </a:r>
            <a:r>
              <a:rPr lang="it-IT" b="1" i="1" dirty="0">
                <a:solidFill>
                  <a:schemeClr val="accent1">
                    <a:lumMod val="50000"/>
                  </a:schemeClr>
                </a:solidFill>
              </a:rPr>
              <a:t> bed </a:t>
            </a:r>
          </a:p>
          <a:p>
            <a:pPr algn="ctr"/>
            <a:r>
              <a:rPr lang="it-IT" b="1" i="1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</a:rPr>
              <a:t>each</a:t>
            </a:r>
            <a:r>
              <a:rPr lang="it-IT" b="1" i="1" dirty="0">
                <a:solidFill>
                  <a:schemeClr val="accent1">
                    <a:lumMod val="50000"/>
                  </a:schemeClr>
                </a:solidFill>
              </a:rPr>
              <a:t> 1D </a:t>
            </a: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</a:rPr>
              <a:t>coronary</a:t>
            </a:r>
            <a:r>
              <a:rPr lang="it-IT" b="1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</a:rPr>
              <a:t>artery</a:t>
            </a:r>
            <a:endParaRPr lang="it-IT" dirty="0"/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3C57C205-1549-E923-68FF-51C6128F2340}"/>
              </a:ext>
            </a:extLst>
          </p:cNvPr>
          <p:cNvGrpSpPr/>
          <p:nvPr/>
        </p:nvGrpSpPr>
        <p:grpSpPr>
          <a:xfrm>
            <a:off x="5519479" y="2206528"/>
            <a:ext cx="1524000" cy="677952"/>
            <a:chOff x="5900655" y="2438399"/>
            <a:chExt cx="1109745" cy="476827"/>
          </a:xfrm>
        </p:grpSpPr>
        <p:pic>
          <p:nvPicPr>
            <p:cNvPr id="19" name="Immagine 18" descr="Immagine che contiene Carattere, bianco, testo, tipografia&#10;&#10;Descrizione generata automaticamente">
              <a:extLst>
                <a:ext uri="{FF2B5EF4-FFF2-40B4-BE49-F238E27FC236}">
                  <a16:creationId xmlns:a16="http://schemas.microsoft.com/office/drawing/2014/main" id="{94754A1F-3D12-5C01-D2DB-E2D3495883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849" t="-1474" r="34376"/>
            <a:stretch/>
          </p:blipFill>
          <p:spPr>
            <a:xfrm>
              <a:off x="5900655" y="2438399"/>
              <a:ext cx="1109745" cy="476827"/>
            </a:xfrm>
            <a:prstGeom prst="rect">
              <a:avLst/>
            </a:prstGeom>
            <a:ln>
              <a:solidFill>
                <a:schemeClr val="accent2"/>
              </a:solidFill>
            </a:ln>
            <a:effectLst/>
          </p:spPr>
        </p:pic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65D3A546-FF72-B247-3CE3-37E43F945372}"/>
                </a:ext>
              </a:extLst>
            </p:cNvPr>
            <p:cNvSpPr/>
            <p:nvPr/>
          </p:nvSpPr>
          <p:spPr>
            <a:xfrm>
              <a:off x="5900655" y="2438399"/>
              <a:ext cx="1109745" cy="476827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1F42501-39C5-B715-0E66-A8F9FC02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33400"/>
            <a:ext cx="8001000" cy="430887"/>
          </a:xfrm>
        </p:spPr>
        <p:txBody>
          <a:bodyPr/>
          <a:lstStyle/>
          <a:p>
            <a:pPr algn="ctr"/>
            <a:r>
              <a:rPr lang="it-IT" sz="2800" b="1" i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1D – 0D Model of </a:t>
            </a:r>
            <a:r>
              <a:rPr lang="it-IT" sz="2800" b="1" i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Coronary</a:t>
            </a:r>
            <a:r>
              <a:rPr lang="it-IT" sz="2800" b="1" i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it-IT" sz="2800" b="1" i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Circulation</a:t>
            </a:r>
            <a:endParaRPr lang="it-IT" sz="2800" dirty="0">
              <a:latin typeface="+mn-lt"/>
            </a:endParaRPr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AC2E4D08-F341-9941-57EA-2856E9D227D7}"/>
              </a:ext>
            </a:extLst>
          </p:cNvPr>
          <p:cNvGrpSpPr/>
          <p:nvPr/>
        </p:nvGrpSpPr>
        <p:grpSpPr>
          <a:xfrm>
            <a:off x="5018809" y="2985018"/>
            <a:ext cx="2525341" cy="677952"/>
            <a:chOff x="5181600" y="2827241"/>
            <a:chExt cx="2057400" cy="482022"/>
          </a:xfrm>
        </p:grpSpPr>
        <p:pic>
          <p:nvPicPr>
            <p:cNvPr id="26" name="Immagine 25" descr="Immagine che contiene Carattere, bianco, tipografia&#10;&#10;Descrizione generata automaticamente">
              <a:extLst>
                <a:ext uri="{FF2B5EF4-FFF2-40B4-BE49-F238E27FC236}">
                  <a16:creationId xmlns:a16="http://schemas.microsoft.com/office/drawing/2014/main" id="{6222931E-99BD-89B1-2B62-3DD7D5EA78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7454" t="-1474" r="23636"/>
            <a:stretch/>
          </p:blipFill>
          <p:spPr>
            <a:xfrm>
              <a:off x="5181600" y="2832436"/>
              <a:ext cx="2057400" cy="476827"/>
            </a:xfrm>
            <a:prstGeom prst="rect">
              <a:avLst/>
            </a:prstGeom>
          </p:spPr>
        </p:pic>
        <p:sp>
          <p:nvSpPr>
            <p:cNvPr id="27" name="Rettangolo 26">
              <a:extLst>
                <a:ext uri="{FF2B5EF4-FFF2-40B4-BE49-F238E27FC236}">
                  <a16:creationId xmlns:a16="http://schemas.microsoft.com/office/drawing/2014/main" id="{CE3B06C3-D9B7-49C6-167B-A639EEB07D87}"/>
                </a:ext>
              </a:extLst>
            </p:cNvPr>
            <p:cNvSpPr/>
            <p:nvPr/>
          </p:nvSpPr>
          <p:spPr>
            <a:xfrm>
              <a:off x="5181600" y="2827241"/>
              <a:ext cx="2057400" cy="476827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E9E5D792-0156-27E4-80D8-CE813CC5100A}"/>
              </a:ext>
            </a:extLst>
          </p:cNvPr>
          <p:cNvGrpSpPr/>
          <p:nvPr/>
        </p:nvGrpSpPr>
        <p:grpSpPr>
          <a:xfrm>
            <a:off x="5519479" y="3782421"/>
            <a:ext cx="1524000" cy="584775"/>
            <a:chOff x="5900655" y="3637973"/>
            <a:chExt cx="1295400" cy="304801"/>
          </a:xfrm>
        </p:grpSpPr>
        <p:pic>
          <p:nvPicPr>
            <p:cNvPr id="29" name="Immagine 28">
              <a:extLst>
                <a:ext uri="{FF2B5EF4-FFF2-40B4-BE49-F238E27FC236}">
                  <a16:creationId xmlns:a16="http://schemas.microsoft.com/office/drawing/2014/main" id="{F233451C-B998-6FE9-2E29-CFB81DE811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445" r="32464"/>
            <a:stretch/>
          </p:blipFill>
          <p:spPr>
            <a:xfrm>
              <a:off x="5900655" y="3637973"/>
              <a:ext cx="1295400" cy="304800"/>
            </a:xfrm>
            <a:prstGeom prst="rect">
              <a:avLst/>
            </a:prstGeom>
          </p:spPr>
        </p:pic>
        <p:sp>
          <p:nvSpPr>
            <p:cNvPr id="30" name="Rettangolo 29">
              <a:extLst>
                <a:ext uri="{FF2B5EF4-FFF2-40B4-BE49-F238E27FC236}">
                  <a16:creationId xmlns:a16="http://schemas.microsoft.com/office/drawing/2014/main" id="{FEE179B0-A9F1-E4F4-4EFF-997A4DFCE86D}"/>
                </a:ext>
              </a:extLst>
            </p:cNvPr>
            <p:cNvSpPr/>
            <p:nvPr/>
          </p:nvSpPr>
          <p:spPr>
            <a:xfrm>
              <a:off x="5917973" y="3637974"/>
              <a:ext cx="1278082" cy="304800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pic>
        <p:nvPicPr>
          <p:cNvPr id="10" name="Immagine 9" descr="Immagine che contiene diagramma, testo, linea, Disegno tecnico&#10;&#10;Descrizione generata automaticamente">
            <a:extLst>
              <a:ext uri="{FF2B5EF4-FFF2-40B4-BE49-F238E27FC236}">
                <a16:creationId xmlns:a16="http://schemas.microsoft.com/office/drawing/2014/main" id="{9049699E-1907-CFC7-A5AB-144534BBC0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72" y="2147437"/>
            <a:ext cx="3767055" cy="2641831"/>
          </a:xfrm>
          <a:prstGeom prst="rect">
            <a:avLst/>
          </a:prstGeom>
        </p:spPr>
      </p:pic>
      <p:sp>
        <p:nvSpPr>
          <p:cNvPr id="18" name="Ovale 17">
            <a:extLst>
              <a:ext uri="{FF2B5EF4-FFF2-40B4-BE49-F238E27FC236}">
                <a16:creationId xmlns:a16="http://schemas.microsoft.com/office/drawing/2014/main" id="{BEA96756-7F02-958D-AA80-5B0D64BEE958}"/>
              </a:ext>
            </a:extLst>
          </p:cNvPr>
          <p:cNvSpPr/>
          <p:nvPr/>
        </p:nvSpPr>
        <p:spPr>
          <a:xfrm>
            <a:off x="2262787" y="2465393"/>
            <a:ext cx="533400" cy="3810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AC5CA390-B135-127E-1792-427E2BAE59A0}"/>
              </a:ext>
            </a:extLst>
          </p:cNvPr>
          <p:cNvSpPr/>
          <p:nvPr/>
        </p:nvSpPr>
        <p:spPr>
          <a:xfrm>
            <a:off x="2280105" y="3101306"/>
            <a:ext cx="533400" cy="381000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B73FB1F2-E33C-5DFC-6A16-920B5F215C80}"/>
              </a:ext>
            </a:extLst>
          </p:cNvPr>
          <p:cNvSpPr/>
          <p:nvPr/>
        </p:nvSpPr>
        <p:spPr>
          <a:xfrm>
            <a:off x="1746705" y="3326442"/>
            <a:ext cx="533400" cy="381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Freccia giù 37">
            <a:extLst>
              <a:ext uri="{FF2B5EF4-FFF2-40B4-BE49-F238E27FC236}">
                <a16:creationId xmlns:a16="http://schemas.microsoft.com/office/drawing/2014/main" id="{0C400ACE-5956-8F9E-84A8-1FCC92B2FB75}"/>
              </a:ext>
            </a:extLst>
          </p:cNvPr>
          <p:cNvSpPr/>
          <p:nvPr/>
        </p:nvSpPr>
        <p:spPr>
          <a:xfrm flipH="1">
            <a:off x="6225878" y="4510237"/>
            <a:ext cx="131576" cy="428182"/>
          </a:xfrm>
          <a:prstGeom prst="downArrow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5A297570-AB72-8060-777A-54CD3E3960A8}"/>
                  </a:ext>
                </a:extLst>
              </p:cNvPr>
              <p:cNvSpPr txBox="1"/>
              <p:nvPr/>
            </p:nvSpPr>
            <p:spPr>
              <a:xfrm>
                <a:off x="4092278" y="4937742"/>
                <a:ext cx="4267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𝐶𝐸𝑃</m:t>
                        </m:r>
                      </m:sub>
                    </m:sSub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𝑐𝑎𝑣𝑖𝑡𝑦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𝑖𝑛𝑑𝑢𝑐𝑒𝑑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𝑒𝑥𝑡𝑟𝑎𝑐𝑒𝑙𝑙𝑢𝑙𝑎𝑟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𝑝𝑟𝑒𝑠𝑠𝑢𝑟𝑒</m:t>
                    </m:r>
                  </m:oMath>
                </a14:m>
                <a:r>
                  <a:rPr lang="it-IT" sz="1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𝑆𝐼𝑃</m:t>
                        </m:r>
                      </m:sub>
                    </m:sSub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𝑠h𝑜𝑟𝑡𝑒𝑛𝑖𝑛𝑔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𝑖𝑛𝑑𝑢𝑐𝑒𝑑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𝑖𝑛𝑡𝑟𝑎𝑐𝑒𝑙𝑙𝑢𝑙𝑎𝑟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𝑝𝑟𝑒𝑠𝑠𝑢𝑟𝑒</m:t>
                    </m:r>
                  </m:oMath>
                </a14:m>
                <a:r>
                  <a:rPr lang="it-IT" sz="1400" dirty="0"/>
                  <a:t> </a:t>
                </a:r>
              </a:p>
            </p:txBody>
          </p:sp>
        </mc:Choice>
        <mc:Fallback xmlns="">
          <p:sp>
            <p:nvSpPr>
              <p:cNvPr id="39" name="CasellaDiTesto 38">
                <a:extLst>
                  <a:ext uri="{FF2B5EF4-FFF2-40B4-BE49-F238E27FC236}">
                    <a16:creationId xmlns:a16="http://schemas.microsoft.com/office/drawing/2014/main" id="{5A297570-AB72-8060-777A-54CD3E396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278" y="4937742"/>
                <a:ext cx="4267200" cy="523220"/>
              </a:xfrm>
              <a:prstGeom prst="rect">
                <a:avLst/>
              </a:prstGeom>
              <a:blipFill>
                <a:blip r:embed="rId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51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17" grpId="0"/>
      <p:bldP spid="2" grpId="0"/>
      <p:bldP spid="18" grpId="0" animBg="1"/>
      <p:bldP spid="25" grpId="0" animBg="1"/>
      <p:bldP spid="31" grpId="0" animBg="1"/>
      <p:bldP spid="38" grpId="0" animBg="1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DED86A6B-477D-1F70-0F2C-3881E01C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051" y="593155"/>
            <a:ext cx="3427895" cy="508000"/>
          </a:xfrm>
        </p:spPr>
        <p:txBody>
          <a:bodyPr wrap="square" lIns="0" tIns="0" rIns="0" bIns="0">
            <a:normAutofit/>
          </a:bodyPr>
          <a:lstStyle/>
          <a:p>
            <a:pPr algn="ctr"/>
            <a:r>
              <a:rPr lang="it-IT" sz="2800" b="1" i="1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Calibri Light"/>
              </a:rPr>
              <a:t>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1C297-9C97-A8B2-E937-39C6E8A6858A}"/>
              </a:ext>
            </a:extLst>
          </p:cNvPr>
          <p:cNvSpPr txBox="1"/>
          <p:nvPr/>
        </p:nvSpPr>
        <p:spPr>
          <a:xfrm>
            <a:off x="304800" y="986443"/>
            <a:ext cx="8534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74151"/>
                </a:solidFill>
                <a:ea typeface="Calibri" panose="020F0502020204030204" pitchFamily="34" charset="0"/>
              </a:rPr>
              <a:t>M</a:t>
            </a:r>
            <a:r>
              <a:rPr lang="en-US" dirty="0">
                <a:solidFill>
                  <a:srgbClr val="374151"/>
                </a:solidFill>
                <a:effectLst/>
                <a:ea typeface="Calibri" panose="020F0502020204030204" pitchFamily="34" charset="0"/>
              </a:rPr>
              <a:t>ultiscale model was validated on two levels</a:t>
            </a:r>
            <a:r>
              <a:rPr lang="it-IT" dirty="0">
                <a:solidFill>
                  <a:srgbClr val="374151"/>
                </a:solidFill>
                <a:ea typeface="Calibri" panose="020F0502020204030204" pitchFamily="34" charset="0"/>
              </a:rPr>
              <a:t>:</a:t>
            </a:r>
            <a:endParaRPr lang="it-IT" dirty="0">
              <a:effectLst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74151"/>
                </a:solidFill>
                <a:effectLst/>
                <a:ea typeface="Calibri" panose="020F0502020204030204" pitchFamily="34" charset="0"/>
              </a:rPr>
              <a:t>GENERAL VALIDATION</a:t>
            </a:r>
            <a:r>
              <a:rPr lang="en-US" dirty="0">
                <a:solidFill>
                  <a:srgbClr val="374151"/>
                </a:solidFill>
                <a:effectLst/>
                <a:ea typeface="Calibri" panose="020F0502020204030204" pitchFamily="34" charset="0"/>
              </a:rPr>
              <a:t>, the flow patterns throughout the model closely matched published in vivo data</a:t>
            </a:r>
          </a:p>
        </p:txBody>
      </p:sp>
      <p:pic>
        <p:nvPicPr>
          <p:cNvPr id="5" name="Immagine 4" descr="Immagine che contiene diagramma, linea, bianco, schizzo&#10;&#10;Descrizione generata automaticamente">
            <a:extLst>
              <a:ext uri="{FF2B5EF4-FFF2-40B4-BE49-F238E27FC236}">
                <a16:creationId xmlns:a16="http://schemas.microsoft.com/office/drawing/2014/main" id="{F0EE7AAB-A1D8-49CB-B6BA-54BCF5E82E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072"/>
          <a:stretch/>
        </p:blipFill>
        <p:spPr>
          <a:xfrm>
            <a:off x="1600200" y="1816255"/>
            <a:ext cx="6477000" cy="151922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3FEC476-6C8D-1DAB-29A6-FBCD64E080DD}"/>
              </a:ext>
            </a:extLst>
          </p:cNvPr>
          <p:cNvSpPr txBox="1"/>
          <p:nvPr/>
        </p:nvSpPr>
        <p:spPr>
          <a:xfrm>
            <a:off x="488370" y="4050582"/>
            <a:ext cx="40836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74151"/>
                </a:solidFill>
                <a:ea typeface="Calibri" panose="020F0502020204030204" pitchFamily="34" charset="0"/>
              </a:rPr>
              <a:t>SUBJECT-SPECIFIC VALIDATION, </a:t>
            </a:r>
            <a:r>
              <a:rPr lang="en-US" dirty="0">
                <a:solidFill>
                  <a:srgbClr val="374151"/>
                </a:solidFill>
                <a:ea typeface="Calibri" panose="020F0502020204030204" pitchFamily="34" charset="0"/>
              </a:rPr>
              <a:t>the agreement between simulated and in vivo flow waveforms in nine adult sheep was generally excellent</a:t>
            </a:r>
            <a:r>
              <a:rPr lang="it-IT" dirty="0"/>
              <a:t> </a:t>
            </a:r>
            <a:r>
              <a:rPr lang="it-IT" b="1" dirty="0"/>
              <a:t> </a:t>
            </a:r>
          </a:p>
        </p:txBody>
      </p:sp>
      <p:pic>
        <p:nvPicPr>
          <p:cNvPr id="9" name="Immagine 8" descr="Immagine che contiene testo, Carattere, diagramma, linea&#10;&#10;Descrizione generata automaticamente">
            <a:extLst>
              <a:ext uri="{FF2B5EF4-FFF2-40B4-BE49-F238E27FC236}">
                <a16:creationId xmlns:a16="http://schemas.microsoft.com/office/drawing/2014/main" id="{E7B2BCEA-F034-7CE8-CDEF-8F35885FEB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895"/>
          <a:stretch/>
        </p:blipFill>
        <p:spPr>
          <a:xfrm>
            <a:off x="4584700" y="3309878"/>
            <a:ext cx="3492500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79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1D8699A9-B8BF-E125-81AD-B4509C76FDBF}"/>
              </a:ext>
            </a:extLst>
          </p:cNvPr>
          <p:cNvSpPr/>
          <p:nvPr/>
        </p:nvSpPr>
        <p:spPr>
          <a:xfrm>
            <a:off x="5489837" y="2285999"/>
            <a:ext cx="3338595" cy="3200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DED86A6B-477D-1F70-0F2C-3881E01C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052" y="457200"/>
            <a:ext cx="3427895" cy="508000"/>
          </a:xfrm>
        </p:spPr>
        <p:txBody>
          <a:bodyPr wrap="square" lIns="0" tIns="0" rIns="0" bIns="0">
            <a:normAutofit/>
          </a:bodyPr>
          <a:lstStyle/>
          <a:p>
            <a:pPr algn="ctr"/>
            <a:r>
              <a:rPr lang="it-IT" sz="2800" b="1" i="1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Calibri Light"/>
              </a:rPr>
              <a:t>Results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8498F023-E6D9-C399-1236-BCF265421EC1}"/>
              </a:ext>
            </a:extLst>
          </p:cNvPr>
          <p:cNvSpPr txBox="1">
            <a:spLocks/>
          </p:cNvSpPr>
          <p:nvPr/>
        </p:nvSpPr>
        <p:spPr>
          <a:xfrm>
            <a:off x="571500" y="1069340"/>
            <a:ext cx="8001000" cy="91186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b="1" kern="0" dirty="0">
                <a:solidFill>
                  <a:sysClr val="windowText" lastClr="000000"/>
                </a:solidFill>
              </a:rPr>
              <a:t>SENSITIVITY ANALYSIS</a:t>
            </a:r>
          </a:p>
          <a:p>
            <a:pPr algn="ctr"/>
            <a:r>
              <a:rPr lang="en-US" kern="0" dirty="0">
                <a:solidFill>
                  <a:srgbClr val="343541"/>
                </a:solidFill>
                <a:ea typeface="Times New Roman" panose="02020603050405020304" pitchFamily="18" charset="0"/>
              </a:rPr>
              <a:t>They included only those global parameters whose values were approximated based on relatively loose constraints.</a:t>
            </a:r>
            <a:endParaRPr lang="it-IT" kern="0" dirty="0">
              <a:solidFill>
                <a:sysClr val="windowText" lastClr="000000"/>
              </a:solidFill>
              <a:ea typeface="Times New Roman" panose="02020603050405020304" pitchFamily="18" charset="0"/>
            </a:endParaRPr>
          </a:p>
          <a:p>
            <a:endParaRPr lang="it-IT" kern="0" dirty="0">
              <a:solidFill>
                <a:sysClr val="windowText" lastClr="000000"/>
              </a:solidFill>
            </a:endParaRPr>
          </a:p>
        </p:txBody>
      </p:sp>
      <p:pic>
        <p:nvPicPr>
          <p:cNvPr id="7" name="Immagine 6" descr="Immagine che contiene schizzo, diagramma, testo, Carattere&#10;&#10;Descrizione generata automaticamente">
            <a:extLst>
              <a:ext uri="{FF2B5EF4-FFF2-40B4-BE49-F238E27FC236}">
                <a16:creationId xmlns:a16="http://schemas.microsoft.com/office/drawing/2014/main" id="{0571D108-8615-4EC1-135B-E1443E9BA8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05"/>
          <a:stretch/>
        </p:blipFill>
        <p:spPr>
          <a:xfrm>
            <a:off x="334806" y="2440062"/>
            <a:ext cx="5065730" cy="28922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1F34A69-D10F-8A55-9286-E5CF7FDAAB1A}"/>
                  </a:ext>
                </a:extLst>
              </p:cNvPr>
              <p:cNvSpPr txBox="1"/>
              <p:nvPr/>
            </p:nvSpPr>
            <p:spPr>
              <a:xfrm>
                <a:off x="5475982" y="2716647"/>
                <a:ext cx="3319357" cy="2339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343541"/>
                    </a:solidFill>
                    <a:effectLst/>
                    <a:ea typeface="Times New Roman" panose="02020603050405020304" pitchFamily="18" charset="0"/>
                  </a:rPr>
                  <a:t>Analysis suggested that:</a:t>
                </a:r>
              </a:p>
              <a:p>
                <a:pPr algn="ctr"/>
                <a:endParaRPr lang="it-IT" sz="1600" dirty="0">
                  <a:effectLst/>
                  <a:ea typeface="Times New Roman" panose="02020603050405020304" pitchFamily="18" charset="0"/>
                </a:endParaRPr>
              </a:p>
              <a:p>
                <a:pPr marL="342900" lvl="0" indent="-342900" algn="ctr">
                  <a:buFont typeface="Symbol" pitchFamily="2" charset="2"/>
                  <a:buChar char=""/>
                </a:pPr>
                <a:r>
                  <a:rPr lang="en-US" sz="1600" dirty="0">
                    <a:solidFill>
                      <a:srgbClr val="343541"/>
                    </a:solidFill>
                    <a:ea typeface="Times New Roman" panose="02020603050405020304" pitchFamily="18" charset="0"/>
                  </a:rPr>
                  <a:t>wave velocity is an important parameter governing systemic and diastolic flow transients</a:t>
                </a:r>
              </a:p>
              <a:p>
                <a:pPr lvl="0" algn="ctr"/>
                <a:endParaRPr lang="it-IT" sz="1600" dirty="0">
                  <a:effectLst/>
                  <a:ea typeface="Times New Roman" panose="02020603050405020304" pitchFamily="18" charset="0"/>
                </a:endParaRPr>
              </a:p>
              <a:p>
                <a:pPr marL="342900" lvl="0" indent="-342900" algn="ctr">
                  <a:buFont typeface="Symbol" pitchFamily="2" charset="2"/>
                  <a:buChar char="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>
                            <a:solidFill>
                              <a:srgbClr val="34354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34354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e>
                      <m:sub>
                        <m:r>
                          <a:rPr lang="en-US" sz="1600" i="1">
                            <a:solidFill>
                              <a:srgbClr val="34354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egoe UI" panose="020B0502040204020203" pitchFamily="34" charset="0"/>
                          </a:rPr>
                          <m:t>𝑆𝐼𝑃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43541"/>
                    </a:solidFill>
                    <a:effectLst/>
                    <a:ea typeface="Times New Roman" panose="02020603050405020304" pitchFamily="18" charset="0"/>
                  </a:rPr>
                  <a:t> provides a substantial contribution to systolic flow.</a:t>
                </a:r>
                <a:endParaRPr lang="it-IT" sz="1600" dirty="0">
                  <a:effectLst/>
                  <a:ea typeface="Times New Roman" panose="02020603050405020304" pitchFamily="18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1F34A69-D10F-8A55-9286-E5CF7FDAA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982" y="2716647"/>
                <a:ext cx="3319357" cy="2339102"/>
              </a:xfrm>
              <a:prstGeom prst="rect">
                <a:avLst/>
              </a:prstGeom>
              <a:blipFill>
                <a:blip r:embed="rId3"/>
                <a:stretch>
                  <a:fillRect t="-10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5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/>
      <p:bldP spid="6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EAE9470A-A86D-517C-261A-B1461CA6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23" y="762000"/>
            <a:ext cx="8179277" cy="369332"/>
          </a:xfrm>
        </p:spPr>
        <p:txBody>
          <a:bodyPr/>
          <a:lstStyle/>
          <a:p>
            <a:r>
              <a:rPr lang="it-IT" sz="2400" b="1" i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Open Loop Model to study </a:t>
            </a:r>
            <a:r>
              <a:rPr lang="it-IT" sz="2400" b="1" i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effect</a:t>
            </a:r>
            <a:r>
              <a:rPr lang="it-IT" sz="2400" b="1" i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of AF on </a:t>
            </a:r>
            <a:r>
              <a:rPr lang="it-IT" sz="2400" b="1" i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Coronary</a:t>
            </a:r>
            <a:r>
              <a:rPr lang="it-IT" sz="2400" b="1" i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it-IT" sz="2400" b="1" i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Circulation</a:t>
            </a:r>
            <a:r>
              <a:rPr lang="it-IT" sz="2400" b="1" i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3F423C7-854D-5E3A-4610-4D8EB38CA34E}"/>
              </a:ext>
            </a:extLst>
          </p:cNvPr>
          <p:cNvSpPr txBox="1"/>
          <p:nvPr/>
        </p:nvSpPr>
        <p:spPr>
          <a:xfrm>
            <a:off x="5366173" y="2438400"/>
            <a:ext cx="3473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/>
              <a:t>b) Combination of </a:t>
            </a:r>
            <a:r>
              <a:rPr lang="it-IT" sz="1600" i="1" dirty="0" err="1"/>
              <a:t>coronary</a:t>
            </a:r>
            <a:r>
              <a:rPr lang="it-IT" sz="1600" i="1" dirty="0"/>
              <a:t> </a:t>
            </a:r>
            <a:r>
              <a:rPr lang="it-IT" sz="1600" i="1" dirty="0" err="1"/>
              <a:t>circulation</a:t>
            </a:r>
            <a:r>
              <a:rPr lang="it-IT" sz="1600" i="1" dirty="0"/>
              <a:t> model with the left </a:t>
            </a:r>
            <a:r>
              <a:rPr lang="it-IT" sz="1600" i="1" dirty="0" err="1"/>
              <a:t>heart</a:t>
            </a:r>
            <a:r>
              <a:rPr lang="it-IT" sz="1600" i="1" dirty="0"/>
              <a:t> and </a:t>
            </a:r>
            <a:r>
              <a:rPr lang="it-IT" sz="1600" i="1" dirty="0" err="1"/>
              <a:t>arterial</a:t>
            </a:r>
            <a:r>
              <a:rPr lang="it-IT" sz="1600" i="1" dirty="0"/>
              <a:t> </a:t>
            </a:r>
            <a:r>
              <a:rPr lang="it-IT" sz="1600" i="1" dirty="0" err="1"/>
              <a:t>tree</a:t>
            </a:r>
            <a:r>
              <a:rPr lang="it-IT" sz="1600" i="1" dirty="0"/>
              <a:t> </a:t>
            </a:r>
          </a:p>
        </p:txBody>
      </p:sp>
      <p:pic>
        <p:nvPicPr>
          <p:cNvPr id="13" name="Immagine 12" descr="Immagine che contiene testo, schermata&#10;&#10;Descrizione generata automaticamente">
            <a:extLst>
              <a:ext uri="{FF2B5EF4-FFF2-40B4-BE49-F238E27FC236}">
                <a16:creationId xmlns:a16="http://schemas.microsoft.com/office/drawing/2014/main" id="{3DF08A03-7739-EF44-48B5-1CE61AC3B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05000"/>
            <a:ext cx="4985173" cy="3505200"/>
          </a:xfrm>
          <a:prstGeom prst="rect">
            <a:avLst/>
          </a:prstGeom>
        </p:spPr>
      </p:pic>
      <p:sp>
        <p:nvSpPr>
          <p:cNvPr id="16" name="Freccia curva 15">
            <a:extLst>
              <a:ext uri="{FF2B5EF4-FFF2-40B4-BE49-F238E27FC236}">
                <a16:creationId xmlns:a16="http://schemas.microsoft.com/office/drawing/2014/main" id="{F8E5319B-B147-531C-91A6-C8278884A91B}"/>
              </a:ext>
            </a:extLst>
          </p:cNvPr>
          <p:cNvSpPr/>
          <p:nvPr/>
        </p:nvSpPr>
        <p:spPr>
          <a:xfrm>
            <a:off x="1219200" y="1524000"/>
            <a:ext cx="533400" cy="381000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85E3A794-28E8-6BC3-535E-066554253F16}"/>
                  </a:ext>
                </a:extLst>
              </p:cNvPr>
              <p:cNvSpPr txBox="1"/>
              <p:nvPr/>
            </p:nvSpPr>
            <p:spPr>
              <a:xfrm>
                <a:off x="1828800" y="1427656"/>
                <a:ext cx="411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ctr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it-I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it-I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it-I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1800" dirty="0"/>
                  <a:t> </a:t>
                </a:r>
                <a:r>
                  <a:rPr lang="it-IT" sz="1800" i="1" dirty="0" err="1"/>
                  <a:t>cardiac</a:t>
                </a:r>
                <a:r>
                  <a:rPr lang="it-IT" sz="1800" i="1" dirty="0"/>
                  <a:t> </a:t>
                </a:r>
                <a:r>
                  <a:rPr lang="it-IT" sz="1800" i="1" dirty="0" err="1"/>
                  <a:t>beating</a:t>
                </a:r>
                <a:r>
                  <a:rPr lang="it-IT" sz="1800" i="1" dirty="0"/>
                  <a:t> </a:t>
                </a:r>
                <a:r>
                  <a:rPr lang="it-IT" sz="1800" i="1" dirty="0" err="1"/>
                  <a:t>period</a:t>
                </a:r>
                <a:endParaRPr lang="it-IT" sz="1800" i="1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85E3A794-28E8-6BC3-535E-066554253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427656"/>
                <a:ext cx="4114800" cy="369332"/>
              </a:xfrm>
              <a:prstGeom prst="rect">
                <a:avLst/>
              </a:prstGeom>
              <a:blipFill>
                <a:blip r:embed="rId3"/>
                <a:stretch>
                  <a:fillRect t="-6667" r="-615" b="-2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ccia curva 17">
            <a:extLst>
              <a:ext uri="{FF2B5EF4-FFF2-40B4-BE49-F238E27FC236}">
                <a16:creationId xmlns:a16="http://schemas.microsoft.com/office/drawing/2014/main" id="{1DE9E8C6-D5A8-7089-7D33-D2C42D16DCBA}"/>
              </a:ext>
            </a:extLst>
          </p:cNvPr>
          <p:cNvSpPr/>
          <p:nvPr/>
        </p:nvSpPr>
        <p:spPr>
          <a:xfrm rot="5400000">
            <a:off x="5540406" y="2060726"/>
            <a:ext cx="425388" cy="381000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84355F83-FF36-3F1B-72AA-CAC6F378B153}"/>
              </a:ext>
            </a:extLst>
          </p:cNvPr>
          <p:cNvSpPr/>
          <p:nvPr/>
        </p:nvSpPr>
        <p:spPr>
          <a:xfrm>
            <a:off x="1828800" y="1427656"/>
            <a:ext cx="4114800" cy="369332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BCD4B81-DE19-0006-B2CC-5C119BD230DF}"/>
              </a:ext>
            </a:extLst>
          </p:cNvPr>
          <p:cNvSpPr txBox="1"/>
          <p:nvPr/>
        </p:nvSpPr>
        <p:spPr>
          <a:xfrm>
            <a:off x="5366172" y="3496025"/>
            <a:ext cx="34730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i="1" dirty="0"/>
              <a:t>c) </a:t>
            </a:r>
            <a:r>
              <a:rPr lang="it-IT" sz="1800" i="1" dirty="0" err="1"/>
              <a:t>Hemodynamic</a:t>
            </a:r>
            <a:r>
              <a:rPr lang="it-IT" sz="1800" i="1" dirty="0"/>
              <a:t> parameters are based on the LAD (Left </a:t>
            </a:r>
            <a:r>
              <a:rPr lang="it-IT" sz="1800" i="1" dirty="0" err="1"/>
              <a:t>Anterior</a:t>
            </a:r>
            <a:r>
              <a:rPr lang="it-IT" sz="1800" i="1" dirty="0"/>
              <a:t> </a:t>
            </a:r>
            <a:r>
              <a:rPr lang="it-IT" sz="1800" i="1" dirty="0" err="1"/>
              <a:t>descending</a:t>
            </a:r>
            <a:r>
              <a:rPr lang="it-IT" sz="1800" i="1" dirty="0"/>
              <a:t>) </a:t>
            </a:r>
            <a:r>
              <a:rPr lang="it-IT" sz="1800" i="1" dirty="0" err="1"/>
              <a:t>artery</a:t>
            </a:r>
            <a:r>
              <a:rPr lang="it-IT" i="1" dirty="0"/>
              <a:t>:</a:t>
            </a:r>
            <a:endParaRPr lang="it-IT" sz="1800" i="1" dirty="0"/>
          </a:p>
          <a:p>
            <a:pPr algn="ctr"/>
            <a:endParaRPr lang="it-IT" sz="1800" i="1" dirty="0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485877DB-184E-2E0D-B7A9-6A8EE84446E9}"/>
              </a:ext>
            </a:extLst>
          </p:cNvPr>
          <p:cNvSpPr/>
          <p:nvPr/>
        </p:nvSpPr>
        <p:spPr>
          <a:xfrm>
            <a:off x="5366172" y="2497990"/>
            <a:ext cx="3473028" cy="73959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3" name="Immagine 22" descr="Immagine che contiene testo, Carattere, ricevuta, bianco&#10;&#10;Descrizione generata automaticamente">
            <a:extLst>
              <a:ext uri="{FF2B5EF4-FFF2-40B4-BE49-F238E27FC236}">
                <a16:creationId xmlns:a16="http://schemas.microsoft.com/office/drawing/2014/main" id="{DBF68D8E-10FD-C392-4988-D2F8D05BCF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261" t="2430" r="28261"/>
          <a:stretch/>
        </p:blipFill>
        <p:spPr>
          <a:xfrm>
            <a:off x="6340685" y="4343400"/>
            <a:ext cx="1699919" cy="1050455"/>
          </a:xfrm>
          <a:prstGeom prst="rect">
            <a:avLst/>
          </a:prstGeom>
        </p:spPr>
      </p:pic>
      <p:pic>
        <p:nvPicPr>
          <p:cNvPr id="24" name="Immagine 23" descr="Immagine che contiene Carattere, bianco, calligrafia, testo&#10;&#10;Descrizione generata automaticamente">
            <a:extLst>
              <a:ext uri="{FF2B5EF4-FFF2-40B4-BE49-F238E27FC236}">
                <a16:creationId xmlns:a16="http://schemas.microsoft.com/office/drawing/2014/main" id="{B7144982-D8AA-E529-A57F-30B884CC0F7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953" t="7945" r="27964" b="-1"/>
          <a:stretch/>
        </p:blipFill>
        <p:spPr>
          <a:xfrm>
            <a:off x="6242472" y="5393855"/>
            <a:ext cx="1720428" cy="444256"/>
          </a:xfrm>
          <a:prstGeom prst="rect">
            <a:avLst/>
          </a:prstGeom>
        </p:spPr>
      </p:pic>
      <p:sp>
        <p:nvSpPr>
          <p:cNvPr id="25" name="Rettangolo 24">
            <a:extLst>
              <a:ext uri="{FF2B5EF4-FFF2-40B4-BE49-F238E27FC236}">
                <a16:creationId xmlns:a16="http://schemas.microsoft.com/office/drawing/2014/main" id="{846E3F65-087E-56BB-A9F1-6408E7978F47}"/>
              </a:ext>
            </a:extLst>
          </p:cNvPr>
          <p:cNvSpPr/>
          <p:nvPr/>
        </p:nvSpPr>
        <p:spPr>
          <a:xfrm>
            <a:off x="5366172" y="3485634"/>
            <a:ext cx="3473028" cy="235255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curva 26">
            <a:extLst>
              <a:ext uri="{FF2B5EF4-FFF2-40B4-BE49-F238E27FC236}">
                <a16:creationId xmlns:a16="http://schemas.microsoft.com/office/drawing/2014/main" id="{5223868F-18DD-7121-E1E5-70709252C43D}"/>
              </a:ext>
            </a:extLst>
          </p:cNvPr>
          <p:cNvSpPr/>
          <p:nvPr/>
        </p:nvSpPr>
        <p:spPr>
          <a:xfrm flipV="1">
            <a:off x="1219200" y="5393855"/>
            <a:ext cx="3962400" cy="396099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21CF0FB5-253C-511F-CB17-F2C809251804}"/>
              </a:ext>
            </a:extLst>
          </p:cNvPr>
          <p:cNvSpPr/>
          <p:nvPr/>
        </p:nvSpPr>
        <p:spPr>
          <a:xfrm>
            <a:off x="4038600" y="3962400"/>
            <a:ext cx="9906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296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6" grpId="0" animBg="1"/>
      <p:bldP spid="17" grpId="0"/>
      <p:bldP spid="18" grpId="0" animBg="1"/>
      <p:bldP spid="19" grpId="0" animBg="1"/>
      <p:bldP spid="21" grpId="0"/>
      <p:bldP spid="22" grpId="0" animBg="1"/>
      <p:bldP spid="25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DED86A6B-477D-1F70-0F2C-3881E01C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051" y="554989"/>
            <a:ext cx="3427895" cy="508000"/>
          </a:xfrm>
        </p:spPr>
        <p:txBody>
          <a:bodyPr wrap="square" lIns="0" tIns="0" rIns="0" bIns="0">
            <a:normAutofit/>
          </a:bodyPr>
          <a:lstStyle/>
          <a:p>
            <a:pPr algn="ctr"/>
            <a:r>
              <a:rPr lang="it-IT" b="1" i="1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Calibri Light"/>
              </a:rPr>
              <a:t>Results</a:t>
            </a:r>
            <a:endParaRPr lang="it-IT" sz="2800" b="1" i="1" dirty="0">
              <a:solidFill>
                <a:schemeClr val="accent1">
                  <a:lumMod val="50000"/>
                </a:schemeClr>
              </a:solidFill>
              <a:latin typeface="+mn-lt"/>
              <a:ea typeface="+mj-ea"/>
              <a:cs typeface="Calibri Light"/>
            </a:endParaRPr>
          </a:p>
        </p:txBody>
      </p:sp>
      <p:graphicFrame>
        <p:nvGraphicFramePr>
          <p:cNvPr id="2" name="Segnaposto contenuto 4">
            <a:extLst>
              <a:ext uri="{FF2B5EF4-FFF2-40B4-BE49-F238E27FC236}">
                <a16:creationId xmlns:a16="http://schemas.microsoft.com/office/drawing/2014/main" id="{7CD824EB-2733-0A7E-FD52-522B9A5D8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7110217"/>
              </p:ext>
            </p:extLst>
          </p:nvPr>
        </p:nvGraphicFramePr>
        <p:xfrm>
          <a:off x="647699" y="1062989"/>
          <a:ext cx="7848600" cy="4732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269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2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5AF38B4C-7B2E-293C-21B2-A6D0DAC8453C}"/>
              </a:ext>
            </a:extLst>
          </p:cNvPr>
          <p:cNvSpPr txBox="1">
            <a:spLocks/>
          </p:cNvSpPr>
          <p:nvPr/>
        </p:nvSpPr>
        <p:spPr>
          <a:xfrm>
            <a:off x="507522" y="569714"/>
            <a:ext cx="817927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latin typeface="Calibri Light"/>
                <a:ea typeface="+mj-ea"/>
                <a:cs typeface="Calibri Light"/>
              </a:defRPr>
            </a:lvl1pPr>
          </a:lstStyle>
          <a:p>
            <a:pPr algn="ctr"/>
            <a:r>
              <a:rPr lang="it-IT" sz="2800" b="1" i="1" kern="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Closed Loop Model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224E9E8-0FDB-EFDC-D33C-A16757A49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82" y="1000601"/>
            <a:ext cx="5638800" cy="3766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4D09F51-529C-228D-DC5B-86673C2727BB}"/>
                  </a:ext>
                </a:extLst>
              </p:cNvPr>
              <p:cNvSpPr txBox="1"/>
              <p:nvPr/>
            </p:nvSpPr>
            <p:spPr>
              <a:xfrm>
                <a:off x="6078682" y="1143000"/>
                <a:ext cx="2540478" cy="308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kern="100" dirty="0">
                    <a:solidFill>
                      <a:srgbClr val="343541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Attention was addressed to the coronary arterial blood flow time series </a:t>
                </a:r>
                <a14:m>
                  <m:oMath xmlns:m="http://schemas.openxmlformats.org/officeDocument/2006/math">
                    <m:r>
                      <a:rPr lang="en-US" sz="1600" i="1" kern="100" dirty="0" smtClean="0">
                        <a:solidFill>
                          <a:srgbClr val="34354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1600" i="1" kern="100" dirty="0" smtClean="0">
                        <a:solidFill>
                          <a:srgbClr val="34354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 kern="100" dirty="0" smtClean="0">
                        <a:solidFill>
                          <a:srgbClr val="34354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1600" i="1" kern="100" dirty="0" smtClean="0">
                        <a:solidFill>
                          <a:srgbClr val="34354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sz="1600" kern="100" dirty="0">
                    <a:solidFill>
                      <a:srgbClr val="343541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 each myocardial layer.</a:t>
                </a:r>
              </a:p>
              <a:p>
                <a:pPr algn="ctr"/>
                <a:endParaRPr lang="it-IT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600" kern="100" dirty="0">
                    <a:solidFill>
                      <a:srgbClr val="343541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r>
                  <a:rPr lang="en-US" sz="1600" kern="100" dirty="0">
                    <a:solidFill>
                      <a:srgbClr val="343541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eat-to-beat averaged distributions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kern="100" smtClean="0">
                            <a:solidFill>
                              <a:srgbClr val="34354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600" b="0" i="1" kern="100" smtClean="0">
                            <a:solidFill>
                              <a:srgbClr val="34354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it-IT" sz="1600" b="0" i="1" kern="100" smtClean="0">
                            <a:solidFill>
                              <a:srgbClr val="34354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𝑆𝑅</m:t>
                        </m:r>
                        <m:r>
                          <a:rPr lang="it-IT" sz="1600" b="0" i="1" kern="100" smtClean="0">
                            <a:solidFill>
                              <a:srgbClr val="34354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it-IT" sz="1600" b="0" i="1" kern="100" smtClean="0">
                            <a:solidFill>
                              <a:srgbClr val="34354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1600" kern="100" dirty="0">
                    <a:solidFill>
                      <a:srgbClr val="343541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 kern="100">
                            <a:solidFill>
                              <a:srgbClr val="34354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600" i="1" kern="100">
                            <a:solidFill>
                              <a:srgbClr val="34354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it-IT" sz="1600" b="0" i="1" kern="100" smtClean="0">
                            <a:solidFill>
                              <a:srgbClr val="34354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𝐴𝐹</m:t>
                        </m:r>
                        <m:r>
                          <a:rPr lang="it-IT" sz="1600" i="1" kern="100">
                            <a:solidFill>
                              <a:srgbClr val="34354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it-IT" sz="1600" i="1" kern="100">
                            <a:solidFill>
                              <a:srgbClr val="34354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1600" kern="100" dirty="0">
                    <a:solidFill>
                      <a:srgbClr val="343541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were computed by averaging time series over each cardiac cycle:</a:t>
                </a:r>
                <a:endParaRPr lang="it-IT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4D09F51-529C-228D-DC5B-86673C272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682" y="1143000"/>
                <a:ext cx="2540478" cy="3088538"/>
              </a:xfrm>
              <a:prstGeom prst="rect">
                <a:avLst/>
              </a:prstGeom>
              <a:blipFill>
                <a:blip r:embed="rId3"/>
                <a:stretch>
                  <a:fillRect l="-995" t="-820" r="-298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 descr="Immagine che contiene testo, Carattere, bianco, linea&#10;&#10;Descrizione generata automaticamente">
            <a:extLst>
              <a:ext uri="{FF2B5EF4-FFF2-40B4-BE49-F238E27FC236}">
                <a16:creationId xmlns:a16="http://schemas.microsoft.com/office/drawing/2014/main" id="{12A57226-EA61-022F-25C8-D5B75BC138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565" t="4918" r="23913"/>
          <a:stretch/>
        </p:blipFill>
        <p:spPr>
          <a:xfrm>
            <a:off x="6086946" y="4038600"/>
            <a:ext cx="2523950" cy="112300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229F64B-F818-425E-BA59-6B986F3CAE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4837752"/>
            <a:ext cx="1778000" cy="1295400"/>
          </a:xfrm>
          <a:prstGeom prst="rect">
            <a:avLst/>
          </a:prstGeom>
        </p:spPr>
      </p:pic>
      <p:sp>
        <p:nvSpPr>
          <p:cNvPr id="10" name="Freccia curva 9">
            <a:extLst>
              <a:ext uri="{FF2B5EF4-FFF2-40B4-BE49-F238E27FC236}">
                <a16:creationId xmlns:a16="http://schemas.microsoft.com/office/drawing/2014/main" id="{A8D6ABF6-460C-F56D-7CDB-4264F22CB8DE}"/>
              </a:ext>
            </a:extLst>
          </p:cNvPr>
          <p:cNvSpPr/>
          <p:nvPr/>
        </p:nvSpPr>
        <p:spPr>
          <a:xfrm flipH="1" flipV="1">
            <a:off x="6172200" y="5161602"/>
            <a:ext cx="1200966" cy="647700"/>
          </a:xfrm>
          <a:prstGeom prst="bentArrow">
            <a:avLst>
              <a:gd name="adj1" fmla="val 25000"/>
              <a:gd name="adj2" fmla="val 23035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61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DED86A6B-477D-1F70-0F2C-3881E01C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051" y="554989"/>
            <a:ext cx="3427895" cy="508000"/>
          </a:xfrm>
        </p:spPr>
        <p:txBody>
          <a:bodyPr wrap="square" lIns="0" tIns="0" rIns="0" bIns="0">
            <a:normAutofit/>
          </a:bodyPr>
          <a:lstStyle/>
          <a:p>
            <a:pPr algn="ctr"/>
            <a:r>
              <a:rPr lang="it-IT" b="1" i="1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Calibri Light"/>
              </a:rPr>
              <a:t>Results</a:t>
            </a:r>
            <a:endParaRPr lang="it-IT" sz="2800" b="1" i="1" dirty="0">
              <a:solidFill>
                <a:schemeClr val="accent1">
                  <a:lumMod val="50000"/>
                </a:schemeClr>
              </a:solidFill>
              <a:latin typeface="+mn-lt"/>
              <a:ea typeface="+mj-ea"/>
              <a:cs typeface="Calibri Light"/>
            </a:endParaRPr>
          </a:p>
        </p:txBody>
      </p:sp>
      <p:pic>
        <p:nvPicPr>
          <p:cNvPr id="4" name="Immagine 3" descr="Immagine che contiene testo, schermata, diagramma, Carattere&#10;&#10;Descrizione generata automaticamente">
            <a:extLst>
              <a:ext uri="{FF2B5EF4-FFF2-40B4-BE49-F238E27FC236}">
                <a16:creationId xmlns:a16="http://schemas.microsoft.com/office/drawing/2014/main" id="{BCA26A17-705A-72A7-82FC-310086722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98" y="1447800"/>
            <a:ext cx="5156200" cy="3136900"/>
          </a:xfrm>
          <a:prstGeom prst="rect">
            <a:avLst/>
          </a:prstGeom>
        </p:spPr>
      </p:pic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6F3BC14-B222-52E8-B022-AFA3B1B6E7D2}"/>
              </a:ext>
            </a:extLst>
          </p:cNvPr>
          <p:cNvSpPr txBox="1">
            <a:spLocks/>
          </p:cNvSpPr>
          <p:nvPr/>
        </p:nvSpPr>
        <p:spPr>
          <a:xfrm>
            <a:off x="1993898" y="4779258"/>
            <a:ext cx="5156200" cy="126188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100" dirty="0">
                <a:solidFill>
                  <a:srgbClr val="34354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AF caused a direct reduction in microvascular coronary flow, with the most important decrease seen in the subendocardial layers perfused by LAD and </a:t>
            </a:r>
            <a:r>
              <a:rPr lang="en-US" kern="100" dirty="0" err="1">
                <a:solidFill>
                  <a:srgbClr val="34354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LCx</a:t>
            </a:r>
            <a:endParaRPr lang="it-IT" kern="100" dirty="0">
              <a:solidFill>
                <a:sysClr val="windowText" lastClr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it-IT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34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599" y="562956"/>
            <a:ext cx="7924800" cy="508000"/>
          </a:xfr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Calibri Light"/>
              </a:rPr>
              <a:t>Conclusions</a:t>
            </a:r>
            <a:r>
              <a:rPr lang="it-IT" b="1" i="1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Calibri Light"/>
              </a:rPr>
              <a:t> and future </a:t>
            </a: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Calibri Light"/>
              </a:rPr>
              <a:t>developments</a:t>
            </a:r>
            <a:endParaRPr lang="it-IT" b="1" i="1" dirty="0">
              <a:solidFill>
                <a:schemeClr val="accent1">
                  <a:lumMod val="50000"/>
                </a:schemeClr>
              </a:solidFill>
              <a:latin typeface="+mn-lt"/>
              <a:ea typeface="+mj-ea"/>
              <a:cs typeface="Calibri Light"/>
            </a:endParaRPr>
          </a:p>
        </p:txBody>
      </p:sp>
      <p:graphicFrame>
        <p:nvGraphicFramePr>
          <p:cNvPr id="6" name="CasellaDiTesto 3">
            <a:extLst>
              <a:ext uri="{FF2B5EF4-FFF2-40B4-BE49-F238E27FC236}">
                <a16:creationId xmlns:a16="http://schemas.microsoft.com/office/drawing/2014/main" id="{3741CF86-3A40-6ECE-1DF9-C50DD30C29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0909495"/>
              </p:ext>
            </p:extLst>
          </p:nvPr>
        </p:nvGraphicFramePr>
        <p:xfrm>
          <a:off x="495299" y="1295400"/>
          <a:ext cx="815340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959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66800" y="3182778"/>
            <a:ext cx="7010400" cy="492443"/>
          </a:xfrm>
        </p:spPr>
        <p:txBody>
          <a:bodyPr/>
          <a:lstStyle/>
          <a:p>
            <a:pPr algn="ctr"/>
            <a:r>
              <a:rPr lang="it-IT" b="1" i="1" dirty="0">
                <a:solidFill>
                  <a:schemeClr val="accent1">
                    <a:lumMod val="50000"/>
                  </a:schemeClr>
                </a:solidFill>
                <a:latin typeface="Bierstad"/>
              </a:rPr>
              <a:t>Thanks for </a:t>
            </a: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  <a:latin typeface="Bierstad"/>
              </a:rPr>
              <a:t>your</a:t>
            </a:r>
            <a:r>
              <a:rPr lang="it-IT" b="1" i="1" dirty="0">
                <a:solidFill>
                  <a:schemeClr val="accent1">
                    <a:lumMod val="50000"/>
                  </a:schemeClr>
                </a:solidFill>
                <a:latin typeface="Bierstad"/>
              </a:rPr>
              <a:t> </a:t>
            </a: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  <a:latin typeface="Bierstad"/>
              </a:rPr>
              <a:t>attention</a:t>
            </a:r>
            <a:r>
              <a:rPr lang="it-IT" b="1" i="1" dirty="0">
                <a:solidFill>
                  <a:schemeClr val="accent1">
                    <a:lumMod val="50000"/>
                  </a:schemeClr>
                </a:solidFill>
                <a:latin typeface="Bierstad"/>
              </a:rPr>
              <a:t>!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6896100" y="54102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chemeClr val="accent1">
                    <a:lumMod val="50000"/>
                  </a:schemeClr>
                </a:solidFill>
              </a:rPr>
              <a:t>Virginia Clemente</a:t>
            </a:r>
          </a:p>
        </p:txBody>
      </p:sp>
    </p:spTree>
    <p:extLst>
      <p:ext uri="{BB962C8B-B14F-4D97-AF65-F5344CB8AC3E}">
        <p14:creationId xmlns:p14="http://schemas.microsoft.com/office/powerpoint/2010/main" val="3677143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magine 18">
            <a:extLst>
              <a:ext uri="{FF2B5EF4-FFF2-40B4-BE49-F238E27FC236}">
                <a16:creationId xmlns:a16="http://schemas.microsoft.com/office/drawing/2014/main" id="{2A5D0F4C-FE82-D21D-620D-60C7DBBD5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376" y="4484191"/>
            <a:ext cx="3650126" cy="1476984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2593D0CC-FC79-8CFC-2CAF-168029AC5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91" y="3001853"/>
            <a:ext cx="3535932" cy="100886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AB1A681-28FB-4D3B-7526-E044C3F6FC1E}"/>
              </a:ext>
            </a:extLst>
          </p:cNvPr>
          <p:cNvSpPr txBox="1"/>
          <p:nvPr/>
        </p:nvSpPr>
        <p:spPr>
          <a:xfrm>
            <a:off x="1181100" y="702977"/>
            <a:ext cx="2971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i="1" dirty="0"/>
              <a:t>ARTERIAL TREE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8D18ED5-ADF1-6257-9C68-61874AD11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05" y="1528451"/>
            <a:ext cx="4419600" cy="12954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C1BF09E1-8915-6C45-06DE-077952EF08E9}"/>
              </a:ext>
            </a:extLst>
          </p:cNvPr>
          <p:cNvSpPr txBox="1"/>
          <p:nvPr/>
        </p:nvSpPr>
        <p:spPr>
          <a:xfrm>
            <a:off x="404123" y="1016584"/>
            <a:ext cx="4516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/>
              <a:t>Constitutive</a:t>
            </a:r>
            <a:r>
              <a:rPr lang="it-IT" sz="1600" b="1" dirty="0"/>
              <a:t> equations </a:t>
            </a:r>
            <a:r>
              <a:rPr lang="it-IT" sz="1600" b="1" dirty="0" err="1"/>
              <a:t>relating</a:t>
            </a:r>
            <a:r>
              <a:rPr lang="it-IT" sz="1600" b="1" dirty="0"/>
              <a:t> pressure and area for </a:t>
            </a:r>
            <a:r>
              <a:rPr lang="it-IT" sz="1600" b="1" dirty="0" err="1"/>
              <a:t>each</a:t>
            </a:r>
            <a:r>
              <a:rPr lang="it-IT" sz="1600" b="1" dirty="0"/>
              <a:t> 1D </a:t>
            </a:r>
            <a:r>
              <a:rPr lang="it-IT" sz="1600" b="1" dirty="0" err="1"/>
              <a:t>artery</a:t>
            </a:r>
            <a:endParaRPr lang="it-IT" sz="1600" b="1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0B9F9E6-E80A-AD02-A746-D42B32AD68E7}"/>
              </a:ext>
            </a:extLst>
          </p:cNvPr>
          <p:cNvSpPr txBox="1"/>
          <p:nvPr/>
        </p:nvSpPr>
        <p:spPr>
          <a:xfrm>
            <a:off x="398318" y="2859829"/>
            <a:ext cx="4516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/>
              <a:t>Conservation</a:t>
            </a:r>
            <a:r>
              <a:rPr lang="it-IT" sz="1600" b="1" dirty="0"/>
              <a:t> of mass and total pressure </a:t>
            </a:r>
            <a:r>
              <a:rPr lang="it-IT" sz="1600" b="1" dirty="0" err="1"/>
              <a:t>is</a:t>
            </a:r>
            <a:r>
              <a:rPr lang="it-IT" sz="1600" b="1" dirty="0"/>
              <a:t> set </a:t>
            </a:r>
            <a:r>
              <a:rPr lang="it-IT" sz="1600" b="1" dirty="0" err="1"/>
              <a:t>at</a:t>
            </a:r>
            <a:r>
              <a:rPr lang="it-IT" sz="1600" b="1" dirty="0"/>
              <a:t> </a:t>
            </a:r>
            <a:r>
              <a:rPr lang="it-IT" sz="1600" b="1" dirty="0" err="1"/>
              <a:t>each</a:t>
            </a:r>
            <a:r>
              <a:rPr lang="it-IT" sz="1600" b="1" dirty="0"/>
              <a:t> </a:t>
            </a:r>
            <a:r>
              <a:rPr lang="it-IT" sz="1600" b="1" dirty="0" err="1"/>
              <a:t>arterial</a:t>
            </a:r>
            <a:r>
              <a:rPr lang="it-IT" sz="1600" b="1" dirty="0"/>
              <a:t> </a:t>
            </a:r>
            <a:r>
              <a:rPr lang="it-IT" sz="1600" b="1" dirty="0" err="1"/>
              <a:t>junction</a:t>
            </a:r>
            <a:endParaRPr lang="it-IT" sz="1600" b="1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BEB5788-6C2E-9C5E-E4CD-85A21A898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13" y="3429000"/>
            <a:ext cx="3886200" cy="101600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838256A-F34B-A846-7EDD-2FE59AD5E7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94" y="4793838"/>
            <a:ext cx="4508500" cy="5334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4FA2357A-C08F-1786-1840-0D75E2ADF62B}"/>
              </a:ext>
            </a:extLst>
          </p:cNvPr>
          <p:cNvSpPr txBox="1"/>
          <p:nvPr/>
        </p:nvSpPr>
        <p:spPr>
          <a:xfrm>
            <a:off x="356823" y="4484190"/>
            <a:ext cx="45165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/>
              <a:t>Distal</a:t>
            </a:r>
            <a:r>
              <a:rPr lang="it-IT" sz="1600" b="1" dirty="0"/>
              <a:t> Groups of 3 </a:t>
            </a:r>
            <a:r>
              <a:rPr lang="it-IT" sz="1600" b="1" dirty="0" err="1"/>
              <a:t>element</a:t>
            </a:r>
            <a:r>
              <a:rPr lang="it-IT" sz="1600" b="1" dirty="0"/>
              <a:t> Windkessel </a:t>
            </a:r>
            <a:r>
              <a:rPr lang="it-IT" sz="1600" b="1" dirty="0" err="1"/>
              <a:t>submodel</a:t>
            </a:r>
            <a:endParaRPr lang="it-IT" sz="1600" b="1" dirty="0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AEB5B484-502B-3F56-8E7A-13324FCAACD9}"/>
              </a:ext>
            </a:extLst>
          </p:cNvPr>
          <p:cNvSpPr/>
          <p:nvPr/>
        </p:nvSpPr>
        <p:spPr>
          <a:xfrm>
            <a:off x="304800" y="685801"/>
            <a:ext cx="4745182" cy="48005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E320F29-B689-DB07-E56B-BA3A32ED6A4C}"/>
              </a:ext>
            </a:extLst>
          </p:cNvPr>
          <p:cNvSpPr txBox="1"/>
          <p:nvPr/>
        </p:nvSpPr>
        <p:spPr>
          <a:xfrm>
            <a:off x="6327089" y="714645"/>
            <a:ext cx="1301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i="1" dirty="0"/>
              <a:t>LEFT HEART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CDD32D-8920-5E22-BDEF-58A32AE7B82C}"/>
              </a:ext>
            </a:extLst>
          </p:cNvPr>
          <p:cNvSpPr txBox="1"/>
          <p:nvPr/>
        </p:nvSpPr>
        <p:spPr>
          <a:xfrm>
            <a:off x="5614137" y="1083977"/>
            <a:ext cx="2727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/>
              <a:t>Time-</a:t>
            </a:r>
            <a:r>
              <a:rPr lang="it-IT" sz="1600" b="1" dirty="0" err="1"/>
              <a:t>varying</a:t>
            </a:r>
            <a:r>
              <a:rPr lang="it-IT" sz="1600" b="1" dirty="0"/>
              <a:t> </a:t>
            </a:r>
            <a:r>
              <a:rPr lang="it-IT" sz="1600" b="1" dirty="0" err="1"/>
              <a:t>elastance</a:t>
            </a:r>
            <a:r>
              <a:rPr lang="it-IT" sz="1600" b="1" dirty="0"/>
              <a:t> model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F908040F-56EE-5EC4-7712-61C452826C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1663" y="1422531"/>
            <a:ext cx="3545423" cy="446277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9B9158A-370C-3C8E-BF30-C414D72F4DEB}"/>
              </a:ext>
            </a:extLst>
          </p:cNvPr>
          <p:cNvSpPr txBox="1"/>
          <p:nvPr/>
        </p:nvSpPr>
        <p:spPr>
          <a:xfrm>
            <a:off x="6476998" y="1841440"/>
            <a:ext cx="1194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err="1"/>
              <a:t>Mitral</a:t>
            </a:r>
            <a:r>
              <a:rPr lang="it-IT" sz="1600" b="1" dirty="0"/>
              <a:t> valve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DD8C078-99AC-601D-DC06-828D4A5CDB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8652" y="2139615"/>
            <a:ext cx="3540780" cy="657730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FDB97F1-959E-1602-6F9A-1C83372943DB}"/>
              </a:ext>
            </a:extLst>
          </p:cNvPr>
          <p:cNvSpPr txBox="1"/>
          <p:nvPr/>
        </p:nvSpPr>
        <p:spPr>
          <a:xfrm>
            <a:off x="6480525" y="2754110"/>
            <a:ext cx="11912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/>
              <a:t>Aortic valve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5680EBE9-8D69-B709-E6B6-AA399254FD1D}"/>
              </a:ext>
            </a:extLst>
          </p:cNvPr>
          <p:cNvSpPr/>
          <p:nvPr/>
        </p:nvSpPr>
        <p:spPr>
          <a:xfrm>
            <a:off x="5178137" y="685801"/>
            <a:ext cx="3629450" cy="35051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7F211A9-BEFC-A801-140E-1A49A1362E79}"/>
              </a:ext>
            </a:extLst>
          </p:cNvPr>
          <p:cNvSpPr txBox="1"/>
          <p:nvPr/>
        </p:nvSpPr>
        <p:spPr>
          <a:xfrm>
            <a:off x="6230298" y="4205950"/>
            <a:ext cx="14948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err="1"/>
              <a:t>Coronary</a:t>
            </a:r>
            <a:r>
              <a:rPr lang="it-IT" sz="1600" b="1" dirty="0"/>
              <a:t> </a:t>
            </a:r>
            <a:r>
              <a:rPr lang="it-IT" sz="1600" b="1" dirty="0" err="1"/>
              <a:t>Distal</a:t>
            </a:r>
            <a:endParaRPr lang="it-IT" sz="1600" b="1" dirty="0"/>
          </a:p>
        </p:txBody>
      </p:sp>
    </p:spTree>
    <p:extLst>
      <p:ext uri="{BB962C8B-B14F-4D97-AF65-F5344CB8AC3E}">
        <p14:creationId xmlns:p14="http://schemas.microsoft.com/office/powerpoint/2010/main" val="2538005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ADE9046-5EBB-0A58-7D87-B4B1623F3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7924800" cy="130668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1532F9E7-4661-05CE-463F-8C9C77701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16285"/>
            <a:ext cx="7772400" cy="270550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AA91188-21B6-9D96-556B-161A74006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90619"/>
            <a:ext cx="7772400" cy="157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72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64B8CF-2078-70E5-FA97-C173707D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9014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13499</TotalTime>
  <Words>529</Words>
  <Application>Microsoft Macintosh PowerPoint</Application>
  <PresentationFormat>Presentazione su schermo (4:3)</PresentationFormat>
  <Paragraphs>75</Paragraphs>
  <Slides>16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4" baseType="lpstr">
      <vt:lpstr>Arial</vt:lpstr>
      <vt:lpstr>Bierstad</vt:lpstr>
      <vt:lpstr>Calibri</vt:lpstr>
      <vt:lpstr>Calibri Light</vt:lpstr>
      <vt:lpstr>Cambria Math</vt:lpstr>
      <vt:lpstr>Segoe UI</vt:lpstr>
      <vt:lpstr>Symbol</vt:lpstr>
      <vt:lpstr>Office Theme</vt:lpstr>
      <vt:lpstr>Presentazione standard di PowerPoint</vt:lpstr>
      <vt:lpstr>Presentazione standard di PowerPoint</vt:lpstr>
      <vt:lpstr>Introduction</vt:lpstr>
      <vt:lpstr>1D – 0D Model of Coronary Circulation</vt:lpstr>
      <vt:lpstr>1D – 0D Model of Coronary Circulation</vt:lpstr>
      <vt:lpstr>Results</vt:lpstr>
      <vt:lpstr>Results</vt:lpstr>
      <vt:lpstr>Open Loop Model to study effect of AF on Coronary Circulation </vt:lpstr>
      <vt:lpstr>Results</vt:lpstr>
      <vt:lpstr>Presentazione standard di PowerPoint</vt:lpstr>
      <vt:lpstr>Results</vt:lpstr>
      <vt:lpstr>Conclusions and future developments</vt:lpstr>
      <vt:lpstr>Thanks for your attention!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Progetti Robotica Medica e Industriale a.a. 2018/2019</dc:title>
  <dc:creator>Tamantini Christian</dc:creator>
  <cp:lastModifiedBy>virginia clemente</cp:lastModifiedBy>
  <cp:revision>186</cp:revision>
  <dcterms:created xsi:type="dcterms:W3CDTF">2020-05-06T15:14:43Z</dcterms:created>
  <dcterms:modified xsi:type="dcterms:W3CDTF">2023-09-13T19:12:14Z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2019-05-21T00:00:00Z</vt:filetime>
  </property>
  <property fmtid="{D5CDD505-2E9C-101B-9397-08002B2CF9AE}" pid="3" name="LastSaved">
    <vt:filetime>2020-05-06T00:00:00Z</vt:filetime>
  </property>
</Properties>
</file>